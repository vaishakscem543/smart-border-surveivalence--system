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62" r:id="rId5"/>
    <p:sldId id="263" r:id="rId6"/>
    <p:sldId id="264" r:id="rId7"/>
    <p:sldId id="265" r:id="rId8"/>
    <p:sldId id="272" r:id="rId9"/>
    <p:sldId id="267" r:id="rId10"/>
    <p:sldId id="269" r:id="rId11"/>
    <p:sldId id="259" r:id="rId12"/>
    <p:sldId id="260" r:id="rId13"/>
    <p:sldId id="273" r:id="rId14"/>
    <p:sldId id="261" r:id="rId15"/>
    <p:sldId id="274" r:id="rId16"/>
    <p:sldId id="270" r:id="rId17"/>
    <p:sldId id="271" r:id="rId18"/>
  </p:sldIdLst>
  <p:sldSz cx="18288000" cy="10287000"/>
  <p:notesSz cx="6858000" cy="9144000"/>
  <p:embeddedFontLst>
    <p:embeddedFont>
      <p:font typeface="Roboto" panose="02000000000000000000" pitchFamily="2" charset="0"/>
      <p:regular r:id="rId20"/>
      <p:bold r:id="rId21"/>
      <p:italic r:id="rId22"/>
      <p:boldItalic r:id="rId23"/>
    </p:embeddedFont>
    <p:embeddedFont>
      <p:font typeface="Times New Roman Bold" panose="02020803070505020304" pitchFamily="18"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85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8F90A-F817-22E8-E92F-DE1A7A515D8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00F60E-1A36-F55C-9A91-AE4DA6BED16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5E65E86-5748-476D-0C21-83CDE5367D4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81C0317-1381-BF3D-8E95-4059816B969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1AF3BB0-1F1D-1477-E703-CF3496F74F0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A1482F27-AC45-CF4C-C02F-9C4A4B068B4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09E5ADB-04F3-F657-7C51-7B5A24DE272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86305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14-Apr-26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14-Apr-26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14-Apr-26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14-Apr-26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3372000"/>
            <a:ext cx="18288000" cy="6915000"/>
            <a:chOff x="0" y="0"/>
            <a:chExt cx="24384000" cy="9220000"/>
          </a:xfrm>
        </p:grpSpPr>
        <p:sp>
          <p:nvSpPr>
            <p:cNvPr id="3" name="Freeform 3"/>
            <p:cNvSpPr/>
            <p:nvPr/>
          </p:nvSpPr>
          <p:spPr>
            <a:xfrm>
              <a:off x="0" y="0"/>
              <a:ext cx="24384000" cy="9219946"/>
            </a:xfrm>
            <a:custGeom>
              <a:avLst/>
              <a:gdLst/>
              <a:ahLst/>
              <a:cxnLst/>
              <a:rect l="l" t="t" r="r" b="b"/>
              <a:pathLst>
                <a:path w="24384000" h="9219946">
                  <a:moveTo>
                    <a:pt x="24384000" y="0"/>
                  </a:moveTo>
                  <a:lnTo>
                    <a:pt x="0" y="0"/>
                  </a:lnTo>
                  <a:lnTo>
                    <a:pt x="0" y="9219946"/>
                  </a:lnTo>
                  <a:lnTo>
                    <a:pt x="24384000" y="9219946"/>
                  </a:lnTo>
                  <a:close/>
                </a:path>
              </a:pathLst>
            </a:custGeom>
            <a:solidFill>
              <a:srgbClr val="FAFAFA"/>
            </a:solidFill>
            <a:ln w="12700">
              <a:noFill/>
            </a:ln>
          </p:spPr>
          <p:txBody>
            <a:bodyPr/>
            <a:lstStyle/>
            <a:p>
              <a:endParaRPr lang="en-US"/>
            </a:p>
          </p:txBody>
        </p:sp>
      </p:grpSp>
      <p:grpSp>
        <p:nvGrpSpPr>
          <p:cNvPr id="4" name="Group 4"/>
          <p:cNvGrpSpPr/>
          <p:nvPr/>
        </p:nvGrpSpPr>
        <p:grpSpPr>
          <a:xfrm>
            <a:off x="0" y="3372000"/>
            <a:ext cx="18288000" cy="217200"/>
            <a:chOff x="0" y="0"/>
            <a:chExt cx="24384000" cy="289600"/>
          </a:xfrm>
        </p:grpSpPr>
        <p:sp>
          <p:nvSpPr>
            <p:cNvPr id="5" name="Freeform 5"/>
            <p:cNvSpPr/>
            <p:nvPr/>
          </p:nvSpPr>
          <p:spPr>
            <a:xfrm>
              <a:off x="0" y="0"/>
              <a:ext cx="24384000" cy="289560"/>
            </a:xfrm>
            <a:custGeom>
              <a:avLst/>
              <a:gdLst/>
              <a:ahLst/>
              <a:cxnLst/>
              <a:rect l="l" t="t" r="r" b="b"/>
              <a:pathLst>
                <a:path w="24384000" h="289560">
                  <a:moveTo>
                    <a:pt x="0" y="0"/>
                  </a:moveTo>
                  <a:lnTo>
                    <a:pt x="24384000" y="0"/>
                  </a:lnTo>
                  <a:lnTo>
                    <a:pt x="24384000" y="289560"/>
                  </a:lnTo>
                  <a:lnTo>
                    <a:pt x="0" y="289560"/>
                  </a:lnTo>
                  <a:close/>
                </a:path>
              </a:pathLst>
            </a:custGeom>
            <a:gradFill rotWithShape="1">
              <a:gsLst>
                <a:gs pos="0">
                  <a:srgbClr val="F9F9F9">
                    <a:alpha val="100000"/>
                  </a:srgbClr>
                </a:gs>
                <a:gs pos="36000">
                  <a:srgbClr val="F9F9F9">
                    <a:alpha val="100000"/>
                  </a:srgbClr>
                </a:gs>
                <a:gs pos="80000">
                  <a:srgbClr val="DEDEDE">
                    <a:alpha val="100000"/>
                  </a:srgbClr>
                </a:gs>
                <a:gs pos="100000">
                  <a:srgbClr val="999999">
                    <a:alpha val="100000"/>
                  </a:srgbClr>
                </a:gs>
              </a:gsLst>
              <a:lin ang="16200038"/>
            </a:gradFill>
          </p:spPr>
        </p:sp>
      </p:grpSp>
      <p:grpSp>
        <p:nvGrpSpPr>
          <p:cNvPr id="6" name="Group 6"/>
          <p:cNvGrpSpPr/>
          <p:nvPr/>
        </p:nvGrpSpPr>
        <p:grpSpPr>
          <a:xfrm>
            <a:off x="821094" y="3682484"/>
            <a:ext cx="16209228" cy="1828800"/>
            <a:chOff x="0" y="0"/>
            <a:chExt cx="21612304" cy="2438400"/>
          </a:xfrm>
        </p:grpSpPr>
        <p:sp>
          <p:nvSpPr>
            <p:cNvPr id="7" name="Freeform 7"/>
            <p:cNvSpPr/>
            <p:nvPr/>
          </p:nvSpPr>
          <p:spPr>
            <a:xfrm>
              <a:off x="0" y="0"/>
              <a:ext cx="21612304" cy="2438400"/>
            </a:xfrm>
            <a:custGeom>
              <a:avLst/>
              <a:gdLst/>
              <a:ahLst/>
              <a:cxnLst/>
              <a:rect l="l" t="t" r="r" b="b"/>
              <a:pathLst>
                <a:path w="21612304" h="2438400">
                  <a:moveTo>
                    <a:pt x="0" y="0"/>
                  </a:moveTo>
                  <a:lnTo>
                    <a:pt x="21612304" y="0"/>
                  </a:lnTo>
                  <a:lnTo>
                    <a:pt x="21612304" y="2438400"/>
                  </a:lnTo>
                  <a:lnTo>
                    <a:pt x="0" y="2438400"/>
                  </a:lnTo>
                  <a:close/>
                </a:path>
              </a:pathLst>
            </a:custGeom>
            <a:solidFill>
              <a:srgbClr val="000000">
                <a:alpha val="0"/>
              </a:srgbClr>
            </a:solidFill>
          </p:spPr>
        </p:sp>
        <p:sp>
          <p:nvSpPr>
            <p:cNvPr id="8" name="TextBox 8"/>
            <p:cNvSpPr txBox="1"/>
            <p:nvPr/>
          </p:nvSpPr>
          <p:spPr>
            <a:xfrm>
              <a:off x="0" y="-28575"/>
              <a:ext cx="21612304" cy="2466975"/>
            </a:xfrm>
            <a:prstGeom prst="rect">
              <a:avLst/>
            </a:prstGeom>
          </p:spPr>
          <p:txBody>
            <a:bodyPr lIns="0" tIns="0" rIns="0" bIns="0" rtlCol="0" anchor="ctr"/>
            <a:lstStyle/>
            <a:p>
              <a:pPr algn="ctr">
                <a:lnSpc>
                  <a:spcPts val="5759"/>
                </a:lnSpc>
              </a:pPr>
              <a:r>
                <a:rPr lang="en-US" sz="4800" b="1" dirty="0">
                  <a:solidFill>
                    <a:srgbClr val="424242"/>
                  </a:solidFill>
                  <a:latin typeface="Times New Roman Bold"/>
                  <a:ea typeface="Times New Roman Bold"/>
                  <a:cs typeface="Times New Roman Bold"/>
                  <a:sym typeface="Times New Roman Bold"/>
                </a:rPr>
                <a:t> </a:t>
              </a:r>
              <a:r>
                <a:rPr lang="en-US" sz="4800" dirty="0"/>
                <a:t>INTELLIGENT SWARM BASED BOTS FOR CONTINUOUS AREA PATROLLING AND DETECTION</a:t>
              </a:r>
              <a:endParaRPr lang="en-US" sz="4800" b="1" dirty="0">
                <a:solidFill>
                  <a:srgbClr val="424242"/>
                </a:solidFill>
                <a:latin typeface="Times New Roman Bold"/>
                <a:ea typeface="Times New Roman Bold"/>
                <a:cs typeface="Times New Roman Bold"/>
                <a:sym typeface="Times New Roman Bold"/>
              </a:endParaRPr>
            </a:p>
          </p:txBody>
        </p:sp>
      </p:grpSp>
      <p:grpSp>
        <p:nvGrpSpPr>
          <p:cNvPr id="9" name="Group 9"/>
          <p:cNvGrpSpPr>
            <a:grpSpLocks noChangeAspect="1"/>
          </p:cNvGrpSpPr>
          <p:nvPr/>
        </p:nvGrpSpPr>
        <p:grpSpPr>
          <a:xfrm>
            <a:off x="344380" y="576790"/>
            <a:ext cx="2846864" cy="2286088"/>
            <a:chOff x="0" y="0"/>
            <a:chExt cx="3795819" cy="3048117"/>
          </a:xfrm>
        </p:grpSpPr>
        <p:sp>
          <p:nvSpPr>
            <p:cNvPr id="10" name="Freeform 10"/>
            <p:cNvSpPr/>
            <p:nvPr/>
          </p:nvSpPr>
          <p:spPr>
            <a:xfrm>
              <a:off x="0" y="0"/>
              <a:ext cx="3795776" cy="3048127"/>
            </a:xfrm>
            <a:custGeom>
              <a:avLst/>
              <a:gdLst/>
              <a:ahLst/>
              <a:cxnLst/>
              <a:rect l="l" t="t" r="r" b="b"/>
              <a:pathLst>
                <a:path w="3795776" h="3048127">
                  <a:moveTo>
                    <a:pt x="0" y="0"/>
                  </a:moveTo>
                  <a:lnTo>
                    <a:pt x="3795776" y="0"/>
                  </a:lnTo>
                  <a:lnTo>
                    <a:pt x="3795776" y="3048127"/>
                  </a:lnTo>
                  <a:lnTo>
                    <a:pt x="0" y="3048127"/>
                  </a:lnTo>
                  <a:lnTo>
                    <a:pt x="0" y="0"/>
                  </a:lnTo>
                  <a:close/>
                </a:path>
              </a:pathLst>
            </a:custGeom>
            <a:blipFill>
              <a:blip r:embed="rId3"/>
              <a:stretch>
                <a:fillRect r="-1" b="-3289"/>
              </a:stretch>
            </a:blipFill>
          </p:spPr>
        </p:sp>
      </p:grpSp>
      <p:grpSp>
        <p:nvGrpSpPr>
          <p:cNvPr id="11" name="Group 11"/>
          <p:cNvGrpSpPr>
            <a:grpSpLocks noChangeAspect="1"/>
          </p:cNvGrpSpPr>
          <p:nvPr/>
        </p:nvGrpSpPr>
        <p:grpSpPr>
          <a:xfrm>
            <a:off x="15296264" y="458680"/>
            <a:ext cx="2610400" cy="2522308"/>
            <a:chOff x="0" y="0"/>
            <a:chExt cx="3480533" cy="3363077"/>
          </a:xfrm>
        </p:grpSpPr>
        <p:sp>
          <p:nvSpPr>
            <p:cNvPr id="12" name="Freeform 12"/>
            <p:cNvSpPr/>
            <p:nvPr/>
          </p:nvSpPr>
          <p:spPr>
            <a:xfrm>
              <a:off x="0" y="0"/>
              <a:ext cx="3480562" cy="3363087"/>
            </a:xfrm>
            <a:custGeom>
              <a:avLst/>
              <a:gdLst/>
              <a:ahLst/>
              <a:cxnLst/>
              <a:rect l="l" t="t" r="r" b="b"/>
              <a:pathLst>
                <a:path w="3480562" h="3363087">
                  <a:moveTo>
                    <a:pt x="0" y="0"/>
                  </a:moveTo>
                  <a:lnTo>
                    <a:pt x="3480562" y="0"/>
                  </a:lnTo>
                  <a:lnTo>
                    <a:pt x="3480562" y="3363087"/>
                  </a:lnTo>
                  <a:lnTo>
                    <a:pt x="0" y="3363087"/>
                  </a:lnTo>
                  <a:lnTo>
                    <a:pt x="0" y="0"/>
                  </a:lnTo>
                  <a:close/>
                </a:path>
              </a:pathLst>
            </a:custGeom>
            <a:blipFill>
              <a:blip r:embed="rId4"/>
              <a:stretch>
                <a:fillRect b="-3492"/>
              </a:stretch>
            </a:blipFill>
          </p:spPr>
        </p:sp>
      </p:grpSp>
      <p:sp>
        <p:nvSpPr>
          <p:cNvPr id="13" name="TextBox 13"/>
          <p:cNvSpPr txBox="1"/>
          <p:nvPr/>
        </p:nvSpPr>
        <p:spPr>
          <a:xfrm>
            <a:off x="1802625" y="1003100"/>
            <a:ext cx="14682750" cy="743793"/>
          </a:xfrm>
          <a:prstGeom prst="rect">
            <a:avLst/>
          </a:prstGeom>
        </p:spPr>
        <p:txBody>
          <a:bodyPr lIns="0" tIns="0" rIns="0" bIns="0" rtlCol="0" anchor="t">
            <a:spAutoFit/>
          </a:bodyPr>
          <a:lstStyle/>
          <a:p>
            <a:pPr algn="ctr">
              <a:lnSpc>
                <a:spcPts val="5759"/>
              </a:lnSpc>
            </a:pPr>
            <a:r>
              <a:rPr lang="en-US" sz="5400" b="1" dirty="0">
                <a:solidFill>
                  <a:srgbClr val="000000"/>
                </a:solidFill>
                <a:latin typeface="Times New Roman Bold"/>
                <a:ea typeface="Times New Roman Bold"/>
                <a:cs typeface="Times New Roman Bold"/>
                <a:sym typeface="Times New Roman Bold"/>
              </a:rPr>
              <a:t>Major Project Presentation Phase-I</a:t>
            </a:r>
          </a:p>
        </p:txBody>
      </p:sp>
      <p:sp>
        <p:nvSpPr>
          <p:cNvPr id="14" name="TextBox 14"/>
          <p:cNvSpPr txBox="1"/>
          <p:nvPr/>
        </p:nvSpPr>
        <p:spPr>
          <a:xfrm>
            <a:off x="677547" y="6490149"/>
            <a:ext cx="5951550" cy="2155205"/>
          </a:xfrm>
          <a:prstGeom prst="rect">
            <a:avLst/>
          </a:prstGeom>
        </p:spPr>
        <p:txBody>
          <a:bodyPr lIns="0" tIns="0" rIns="0" bIns="0" rtlCol="0" anchor="t">
            <a:spAutoFit/>
          </a:bodyPr>
          <a:lstStyle/>
          <a:p>
            <a:pPr algn="l">
              <a:lnSpc>
                <a:spcPts val="3359"/>
              </a:lnSpc>
            </a:pPr>
            <a:r>
              <a:rPr lang="en-US" sz="2799" b="1" dirty="0">
                <a:solidFill>
                  <a:srgbClr val="000000"/>
                </a:solidFill>
                <a:latin typeface="Times New Roman Bold"/>
                <a:ea typeface="Times New Roman Bold"/>
                <a:cs typeface="Times New Roman Bold"/>
                <a:sym typeface="Times New Roman Bold"/>
              </a:rPr>
              <a:t>Team Members:</a:t>
            </a:r>
          </a:p>
          <a:p>
            <a:pPr algn="l">
              <a:lnSpc>
                <a:spcPts val="3359"/>
              </a:lnSpc>
            </a:pPr>
            <a:r>
              <a:rPr lang="en-US" sz="2799" dirty="0">
                <a:solidFill>
                  <a:srgbClr val="000000"/>
                </a:solidFill>
                <a:latin typeface="Times New Roman"/>
                <a:ea typeface="Times New Roman"/>
                <a:cs typeface="Times New Roman"/>
                <a:sym typeface="Times New Roman"/>
              </a:rPr>
              <a:t>Ashwin Suresh- 4SF23EC022</a:t>
            </a:r>
          </a:p>
          <a:p>
            <a:pPr algn="l">
              <a:lnSpc>
                <a:spcPts val="3359"/>
              </a:lnSpc>
            </a:pPr>
            <a:r>
              <a:rPr lang="en-US" sz="2799" dirty="0">
                <a:solidFill>
                  <a:srgbClr val="000000"/>
                </a:solidFill>
                <a:latin typeface="Times New Roman"/>
                <a:ea typeface="Times New Roman"/>
                <a:cs typeface="Times New Roman"/>
                <a:sym typeface="Times New Roman"/>
              </a:rPr>
              <a:t>Neha Raj - 4SF23EC066</a:t>
            </a:r>
          </a:p>
          <a:p>
            <a:pPr algn="l">
              <a:lnSpc>
                <a:spcPts val="3359"/>
              </a:lnSpc>
            </a:pPr>
            <a:r>
              <a:rPr lang="en-US" sz="2799" dirty="0">
                <a:solidFill>
                  <a:srgbClr val="000000"/>
                </a:solidFill>
                <a:latin typeface="Times New Roman"/>
                <a:ea typeface="Times New Roman"/>
                <a:cs typeface="Times New Roman"/>
                <a:sym typeface="Times New Roman"/>
              </a:rPr>
              <a:t>Preetham Krishna - 4SF23EC077</a:t>
            </a:r>
          </a:p>
          <a:p>
            <a:pPr algn="l">
              <a:lnSpc>
                <a:spcPts val="3359"/>
              </a:lnSpc>
            </a:pPr>
            <a:r>
              <a:rPr lang="en-US" sz="2799" dirty="0">
                <a:solidFill>
                  <a:srgbClr val="000000"/>
                </a:solidFill>
                <a:latin typeface="Times New Roman"/>
                <a:ea typeface="Times New Roman"/>
                <a:cs typeface="Times New Roman"/>
                <a:sym typeface="Times New Roman"/>
              </a:rPr>
              <a:t>Vaishak D Karkera - 4SF23EC117</a:t>
            </a:r>
          </a:p>
        </p:txBody>
      </p:sp>
      <p:sp>
        <p:nvSpPr>
          <p:cNvPr id="15" name="TextBox 15"/>
          <p:cNvSpPr txBox="1"/>
          <p:nvPr/>
        </p:nvSpPr>
        <p:spPr>
          <a:xfrm>
            <a:off x="13030200" y="6754315"/>
            <a:ext cx="4580253" cy="1719189"/>
          </a:xfrm>
          <a:prstGeom prst="rect">
            <a:avLst/>
          </a:prstGeom>
        </p:spPr>
        <p:txBody>
          <a:bodyPr wrap="square" lIns="0" tIns="0" rIns="0" bIns="0" rtlCol="0" anchor="t">
            <a:spAutoFit/>
          </a:bodyPr>
          <a:lstStyle/>
          <a:p>
            <a:pPr algn="ctr">
              <a:lnSpc>
                <a:spcPts val="3359"/>
              </a:lnSpc>
            </a:pPr>
            <a:r>
              <a:rPr lang="en-US" sz="2799" b="1" dirty="0">
                <a:solidFill>
                  <a:srgbClr val="000000"/>
                </a:solidFill>
                <a:latin typeface="Times New Roman Bold"/>
                <a:ea typeface="Times New Roman Bold"/>
                <a:cs typeface="Times New Roman Bold"/>
                <a:sym typeface="Times New Roman Bold"/>
              </a:rPr>
              <a:t>Under the Guidance of:</a:t>
            </a:r>
          </a:p>
          <a:p>
            <a:pPr algn="ctr">
              <a:lnSpc>
                <a:spcPts val="3359"/>
              </a:lnSpc>
            </a:pPr>
            <a:r>
              <a:rPr lang="en-US" sz="2799" dirty="0">
                <a:solidFill>
                  <a:srgbClr val="000000"/>
                </a:solidFill>
                <a:latin typeface="Times New Roman"/>
                <a:ea typeface="Times New Roman"/>
                <a:cs typeface="Times New Roman"/>
                <a:sym typeface="Times New Roman"/>
              </a:rPr>
              <a:t>Ms. Mehnaz Fathima C</a:t>
            </a:r>
          </a:p>
          <a:p>
            <a:pPr algn="ctr">
              <a:lnSpc>
                <a:spcPts val="3359"/>
              </a:lnSpc>
            </a:pPr>
            <a:r>
              <a:rPr lang="en-US" sz="2799" dirty="0">
                <a:solidFill>
                  <a:srgbClr val="000000"/>
                </a:solidFill>
                <a:latin typeface="Times New Roman"/>
                <a:ea typeface="Times New Roman"/>
                <a:cs typeface="Times New Roman"/>
                <a:sym typeface="Times New Roman"/>
              </a:rPr>
              <a:t>Assistant Prof.</a:t>
            </a:r>
          </a:p>
          <a:p>
            <a:pPr algn="ctr">
              <a:lnSpc>
                <a:spcPts val="3359"/>
              </a:lnSpc>
            </a:pPr>
            <a:r>
              <a:rPr lang="en-US" sz="2799" dirty="0">
                <a:solidFill>
                  <a:srgbClr val="000000"/>
                </a:solidFill>
                <a:latin typeface="Times New Roman"/>
                <a:ea typeface="Times New Roman"/>
                <a:cs typeface="Times New Roman"/>
                <a:sym typeface="Times New Roman"/>
              </a:rPr>
              <a:t>ECE, SCEM</a:t>
            </a:r>
          </a:p>
        </p:txBody>
      </p:sp>
      <p:sp>
        <p:nvSpPr>
          <p:cNvPr id="16" name="TextBox 16"/>
          <p:cNvSpPr txBox="1"/>
          <p:nvPr/>
        </p:nvSpPr>
        <p:spPr>
          <a:xfrm>
            <a:off x="3744747" y="9284603"/>
            <a:ext cx="11250866" cy="614203"/>
          </a:xfrm>
          <a:prstGeom prst="rect">
            <a:avLst/>
          </a:prstGeom>
        </p:spPr>
        <p:txBody>
          <a:bodyPr lIns="0" tIns="0" rIns="0" bIns="0" rtlCol="0" anchor="t">
            <a:spAutoFit/>
          </a:bodyPr>
          <a:lstStyle/>
          <a:p>
            <a:pPr algn="l">
              <a:lnSpc>
                <a:spcPts val="3840"/>
              </a:lnSpc>
            </a:pPr>
            <a:r>
              <a:rPr lang="en-US" sz="3200" b="1">
                <a:solidFill>
                  <a:srgbClr val="002060"/>
                </a:solidFill>
                <a:latin typeface="Times New Roman Bold"/>
                <a:ea typeface="Times New Roman Bold"/>
                <a:cs typeface="Times New Roman Bold"/>
                <a:sym typeface="Times New Roman Bold"/>
              </a:rPr>
              <a:t>Department of Electronics and Communication Engineering</a:t>
            </a:r>
          </a:p>
        </p:txBody>
      </p:sp>
      <p:grpSp>
        <p:nvGrpSpPr>
          <p:cNvPr id="17" name="Group 17"/>
          <p:cNvGrpSpPr/>
          <p:nvPr/>
        </p:nvGrpSpPr>
        <p:grpSpPr>
          <a:xfrm>
            <a:off x="17047082" y="9391246"/>
            <a:ext cx="1097400" cy="787200"/>
            <a:chOff x="0" y="0"/>
            <a:chExt cx="1463200" cy="1049600"/>
          </a:xfrm>
        </p:grpSpPr>
        <p:sp>
          <p:nvSpPr>
            <p:cNvPr id="18" name="Freeform 18"/>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19" name="TextBox 19"/>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Roboto"/>
                  <a:ea typeface="Roboto"/>
                  <a:cs typeface="Roboto"/>
                  <a:sym typeface="Roboto"/>
                </a:rPr>
                <a:t>1</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43866"/>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4" name="Group 4"/>
          <p:cNvGrpSpPr/>
          <p:nvPr/>
        </p:nvGrpSpPr>
        <p:grpSpPr>
          <a:xfrm>
            <a:off x="943800" y="1477450"/>
            <a:ext cx="16444200" cy="1535400"/>
            <a:chOff x="0" y="0"/>
            <a:chExt cx="21925600" cy="2047200"/>
          </a:xfrm>
        </p:grpSpPr>
        <p:sp>
          <p:nvSpPr>
            <p:cNvPr id="5" name="Freeform 5"/>
            <p:cNvSpPr/>
            <p:nvPr/>
          </p:nvSpPr>
          <p:spPr>
            <a:xfrm>
              <a:off x="0" y="0"/>
              <a:ext cx="21925600" cy="2047200"/>
            </a:xfrm>
            <a:custGeom>
              <a:avLst/>
              <a:gdLst/>
              <a:ahLst/>
              <a:cxnLst/>
              <a:rect l="l" t="t" r="r" b="b"/>
              <a:pathLst>
                <a:path w="21925600" h="2047200">
                  <a:moveTo>
                    <a:pt x="0" y="0"/>
                  </a:moveTo>
                  <a:lnTo>
                    <a:pt x="21925600" y="0"/>
                  </a:lnTo>
                  <a:lnTo>
                    <a:pt x="21925600" y="2047200"/>
                  </a:lnTo>
                  <a:lnTo>
                    <a:pt x="0" y="2047200"/>
                  </a:lnTo>
                  <a:close/>
                </a:path>
              </a:pathLst>
            </a:custGeom>
            <a:solidFill>
              <a:srgbClr val="000000">
                <a:alpha val="0"/>
              </a:srgbClr>
            </a:solidFill>
          </p:spPr>
        </p:sp>
        <p:sp>
          <p:nvSpPr>
            <p:cNvPr id="6" name="TextBox 6"/>
            <p:cNvSpPr txBox="1"/>
            <p:nvPr/>
          </p:nvSpPr>
          <p:spPr>
            <a:xfrm>
              <a:off x="0" y="-28575"/>
              <a:ext cx="21925600" cy="2075775"/>
            </a:xfrm>
            <a:prstGeom prst="rect">
              <a:avLst/>
            </a:prstGeom>
          </p:spPr>
          <p:txBody>
            <a:bodyPr lIns="0" tIns="0" rIns="0" bIns="0" rtlCol="0" anchor="b"/>
            <a:lstStyle/>
            <a:p>
              <a:pPr algn="l">
                <a:lnSpc>
                  <a:spcPts val="7680"/>
                </a:lnSpc>
              </a:pPr>
              <a:r>
                <a:rPr lang="en-US" sz="6400">
                  <a:solidFill>
                    <a:srgbClr val="FFFFFF"/>
                  </a:solidFill>
                  <a:latin typeface="Times New Roman"/>
                  <a:ea typeface="Times New Roman"/>
                  <a:cs typeface="Times New Roman"/>
                  <a:sym typeface="Times New Roman"/>
                </a:rPr>
                <a:t>Contents</a:t>
              </a:r>
            </a:p>
          </p:txBody>
        </p:sp>
      </p:grpSp>
      <p:sp>
        <p:nvSpPr>
          <p:cNvPr id="7" name="TextBox 7"/>
          <p:cNvSpPr txBox="1"/>
          <p:nvPr/>
        </p:nvSpPr>
        <p:spPr>
          <a:xfrm>
            <a:off x="682425" y="2241325"/>
            <a:ext cx="16923150" cy="6291787"/>
          </a:xfrm>
          <a:prstGeom prst="rect">
            <a:avLst/>
          </a:prstGeom>
        </p:spPr>
        <p:txBody>
          <a:bodyPr lIns="0" tIns="0" rIns="0" bIns="0" rtlCol="0" anchor="t">
            <a:spAutoFit/>
          </a:bodyPr>
          <a:lstStyle/>
          <a:p>
            <a:pPr marL="1168400" lvl="1" indent="-584200" algn="l">
              <a:lnSpc>
                <a:spcPts val="5520"/>
              </a:lnSpc>
              <a:buFont typeface="Arial"/>
              <a:buChar char="•"/>
            </a:pPr>
            <a:r>
              <a:rPr lang="en-US" sz="4000" dirty="0">
                <a:solidFill>
                  <a:srgbClr val="424242"/>
                </a:solidFill>
                <a:latin typeface="Times New Roman"/>
                <a:ea typeface="Times New Roman"/>
                <a:cs typeface="Times New Roman"/>
                <a:sym typeface="Times New Roman"/>
              </a:rPr>
              <a:t>Introduction</a:t>
            </a:r>
          </a:p>
          <a:p>
            <a:pPr marL="1168400" lvl="1" indent="-584200">
              <a:lnSpc>
                <a:spcPts val="5520"/>
              </a:lnSpc>
              <a:buFont typeface="Arial"/>
              <a:buChar char="•"/>
            </a:pPr>
            <a:r>
              <a:rPr lang="en-US" sz="4000" dirty="0">
                <a:solidFill>
                  <a:srgbClr val="424242"/>
                </a:solidFill>
                <a:latin typeface="Times New Roman"/>
                <a:ea typeface="Times New Roman"/>
                <a:cs typeface="Times New Roman"/>
                <a:sym typeface="Times New Roman"/>
              </a:rPr>
              <a:t>Problem Description </a:t>
            </a:r>
          </a:p>
          <a:p>
            <a:pPr marL="1168400" lvl="1" indent="-584200">
              <a:lnSpc>
                <a:spcPts val="5520"/>
              </a:lnSpc>
              <a:buFont typeface="Arial"/>
              <a:buChar char="•"/>
            </a:pPr>
            <a:r>
              <a:rPr lang="en-US" sz="4000" dirty="0">
                <a:solidFill>
                  <a:srgbClr val="424242"/>
                </a:solidFill>
                <a:latin typeface="Times New Roman"/>
                <a:ea typeface="Times New Roman"/>
                <a:cs typeface="Times New Roman"/>
                <a:sym typeface="Times New Roman"/>
              </a:rPr>
              <a:t>Objectives</a:t>
            </a:r>
          </a:p>
          <a:p>
            <a:pPr marL="1168400" lvl="1" indent="-584200">
              <a:lnSpc>
                <a:spcPts val="5520"/>
              </a:lnSpc>
              <a:buFont typeface="Arial"/>
              <a:buChar char="•"/>
            </a:pPr>
            <a:r>
              <a:rPr lang="en-US" sz="4000" dirty="0">
                <a:solidFill>
                  <a:srgbClr val="424242"/>
                </a:solidFill>
                <a:latin typeface="Times New Roman"/>
                <a:ea typeface="Times New Roman"/>
                <a:cs typeface="Times New Roman"/>
                <a:sym typeface="Times New Roman"/>
              </a:rPr>
              <a:t>Hardware Requirements Specification</a:t>
            </a:r>
          </a:p>
          <a:p>
            <a:pPr marL="1168400" lvl="1" indent="-584200">
              <a:lnSpc>
                <a:spcPts val="5520"/>
              </a:lnSpc>
              <a:buFont typeface="Arial"/>
              <a:buChar char="•"/>
            </a:pPr>
            <a:r>
              <a:rPr lang="en-US" sz="4000" dirty="0">
                <a:solidFill>
                  <a:srgbClr val="424242"/>
                </a:solidFill>
                <a:latin typeface="Times New Roman"/>
                <a:ea typeface="Times New Roman"/>
                <a:cs typeface="Times New Roman"/>
                <a:sym typeface="Times New Roman"/>
              </a:rPr>
              <a:t>Methodology</a:t>
            </a:r>
          </a:p>
          <a:p>
            <a:pPr marL="1168400" lvl="1" indent="-584200">
              <a:lnSpc>
                <a:spcPts val="5520"/>
              </a:lnSpc>
              <a:buFont typeface="Arial"/>
              <a:buChar char="•"/>
            </a:pPr>
            <a:r>
              <a:rPr lang="en-US" sz="4000" dirty="0">
                <a:solidFill>
                  <a:srgbClr val="424242"/>
                </a:solidFill>
                <a:latin typeface="Times New Roman"/>
                <a:ea typeface="Times New Roman"/>
                <a:cs typeface="Times New Roman"/>
                <a:sym typeface="Times New Roman"/>
              </a:rPr>
              <a:t>Results and Discussion </a:t>
            </a:r>
          </a:p>
          <a:p>
            <a:pPr marL="1168400" lvl="1" indent="-584200">
              <a:lnSpc>
                <a:spcPts val="5520"/>
              </a:lnSpc>
              <a:buFont typeface="Arial"/>
              <a:buChar char="•"/>
            </a:pPr>
            <a:r>
              <a:rPr lang="en-US" sz="4000" dirty="0">
                <a:solidFill>
                  <a:srgbClr val="424242"/>
                </a:solidFill>
                <a:latin typeface="Times New Roman"/>
                <a:ea typeface="Times New Roman"/>
                <a:cs typeface="Times New Roman"/>
                <a:sym typeface="Times New Roman"/>
              </a:rPr>
              <a:t>Conclusion</a:t>
            </a:r>
          </a:p>
          <a:p>
            <a:pPr marL="1168400" lvl="1" indent="-584200" algn="l">
              <a:lnSpc>
                <a:spcPts val="5520"/>
              </a:lnSpc>
              <a:buFont typeface="Arial"/>
              <a:buChar char="•"/>
            </a:pPr>
            <a:r>
              <a:rPr lang="en-US" sz="4000" dirty="0">
                <a:solidFill>
                  <a:srgbClr val="424242"/>
                </a:solidFill>
                <a:latin typeface="Times New Roman"/>
                <a:ea typeface="Times New Roman"/>
                <a:cs typeface="Times New Roman"/>
                <a:sym typeface="Times New Roman"/>
              </a:rPr>
              <a:t>Literature Survey</a:t>
            </a:r>
          </a:p>
          <a:p>
            <a:pPr marL="1168400" lvl="1" indent="-584200" algn="l">
              <a:lnSpc>
                <a:spcPts val="5520"/>
              </a:lnSpc>
              <a:buFont typeface="Arial"/>
              <a:buChar char="•"/>
            </a:pPr>
            <a:r>
              <a:rPr lang="en-US" sz="4000" dirty="0">
                <a:solidFill>
                  <a:srgbClr val="424242"/>
                </a:solidFill>
                <a:latin typeface="Times New Roman"/>
                <a:ea typeface="Times New Roman"/>
                <a:cs typeface="Times New Roman"/>
                <a:sym typeface="Times New Roman"/>
              </a:rPr>
              <a:t>References</a:t>
            </a:r>
          </a:p>
        </p:txBody>
      </p:sp>
      <p:grpSp>
        <p:nvGrpSpPr>
          <p:cNvPr id="8" name="Group 8"/>
          <p:cNvGrpSpPr/>
          <p:nvPr/>
        </p:nvGrpSpPr>
        <p:grpSpPr>
          <a:xfrm>
            <a:off x="17047082" y="9391246"/>
            <a:ext cx="1097400" cy="787200"/>
            <a:chOff x="0" y="0"/>
            <a:chExt cx="1463200" cy="1049600"/>
          </a:xfrm>
        </p:grpSpPr>
        <p:sp>
          <p:nvSpPr>
            <p:cNvPr id="9" name="Freeform 9"/>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10" name="TextBox 10"/>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Times New Roman"/>
                  <a:ea typeface="Times New Roman"/>
                  <a:cs typeface="Times New Roman"/>
                  <a:sym typeface="Times New Roman"/>
                </a:rPr>
                <a:t>2</a:t>
              </a:r>
            </a:p>
          </p:txBody>
        </p:sp>
      </p:grpSp>
      <p:sp>
        <p:nvSpPr>
          <p:cNvPr id="11" name="TextBox 11"/>
          <p:cNvSpPr txBox="1"/>
          <p:nvPr/>
        </p:nvSpPr>
        <p:spPr>
          <a:xfrm>
            <a:off x="858955" y="350476"/>
            <a:ext cx="2943646" cy="993140"/>
          </a:xfrm>
          <a:prstGeom prst="rect">
            <a:avLst/>
          </a:prstGeom>
        </p:spPr>
        <p:txBody>
          <a:bodyPr lIns="0" tIns="0" rIns="0" bIns="0" rtlCol="0" anchor="t">
            <a:spAutoFit/>
          </a:bodyPr>
          <a:lstStyle/>
          <a:p>
            <a:pPr algn="l">
              <a:lnSpc>
                <a:spcPts val="6719"/>
              </a:lnSpc>
            </a:pPr>
            <a:r>
              <a:rPr lang="en-US" sz="5599" b="1">
                <a:solidFill>
                  <a:srgbClr val="000000"/>
                </a:solidFill>
                <a:latin typeface="Times New Roman Bold"/>
                <a:ea typeface="Times New Roman Bold"/>
                <a:cs typeface="Times New Roman Bold"/>
                <a:sym typeface="Times New Roman Bold"/>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43866"/>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sp>
        <p:nvSpPr>
          <p:cNvPr id="4" name="TextBox 4"/>
          <p:cNvSpPr txBox="1"/>
          <p:nvPr/>
        </p:nvSpPr>
        <p:spPr>
          <a:xfrm>
            <a:off x="304800" y="1625603"/>
            <a:ext cx="17408868" cy="7278403"/>
          </a:xfrm>
          <a:prstGeom prst="rect">
            <a:avLst/>
          </a:prstGeom>
        </p:spPr>
        <p:txBody>
          <a:bodyPr wrap="square" lIns="0" tIns="0" rIns="0" bIns="0" rtlCol="0" anchor="t">
            <a:spAutoFit/>
          </a:bodyPr>
          <a:lstStyle/>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r>
              <a:rPr lang="en-US" sz="2800" dirty="0">
                <a:latin typeface="Times New Roman" panose="02020603050405020304" pitchFamily="18" charset="0"/>
                <a:cs typeface="Times New Roman" panose="02020603050405020304" pitchFamily="18" charset="0"/>
              </a:rPr>
              <a:t>The </a:t>
            </a:r>
            <a:r>
              <a:rPr lang="en-US" sz="2800" dirty="0"/>
              <a:t>INTELLIGENT SWARM BASED BOTS FOR CONTINUOUS AREA PATROLLING AND DETECTION </a:t>
            </a:r>
            <a:r>
              <a:rPr lang="en-US" sz="2800" dirty="0">
                <a:latin typeface="Times New Roman" panose="02020603050405020304" pitchFamily="18" charset="0"/>
                <a:cs typeface="Times New Roman" panose="02020603050405020304" pitchFamily="18" charset="0"/>
              </a:rPr>
              <a:t>is a cost-effective demonstration prototype designed to monitor sensitive areas using real-time sensors and a live dashboard.</a:t>
            </a:r>
          </a:p>
          <a:p>
            <a:pPr marL="545737" lvl="1" algn="just">
              <a:lnSpc>
                <a:spcPts val="4416"/>
              </a:lnSpc>
            </a:pPr>
            <a:endParaRPr lang="en-US" sz="2800" dirty="0">
              <a:solidFill>
                <a:srgbClr val="424242"/>
              </a:solidFill>
              <a:latin typeface="Times New Roman" panose="02020603050405020304" pitchFamily="18" charset="0"/>
              <a:ea typeface="Times New Roman"/>
              <a:cs typeface="Times New Roman" panose="02020603050405020304" pitchFamily="18" charset="0"/>
              <a:sym typeface="Times New Roman"/>
            </a:endParaRPr>
          </a:p>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endParaRPr lang="en-US" sz="2800" dirty="0">
              <a:latin typeface="Times New Roman" panose="02020603050405020304" pitchFamily="18" charset="0"/>
              <a:cs typeface="Times New Roman" panose="02020603050405020304" pitchFamily="18" charset="0"/>
            </a:endParaRPr>
          </a:p>
          <a:p>
            <a:pPr marL="545737" lvl="1" algn="just">
              <a:lnSpc>
                <a:spcPts val="4416"/>
              </a:lnSpc>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system provides a live 360° situational awareness interface similar to a defense-grade control panel.</a:t>
            </a:r>
            <a:endParaRPr lang="en-US" sz="2800" dirty="0">
              <a:solidFill>
                <a:srgbClr val="424242"/>
              </a:solidFill>
              <a:latin typeface="Times New Roman" panose="02020603050405020304" pitchFamily="18" charset="0"/>
              <a:ea typeface="Times New Roman"/>
              <a:cs typeface="Times New Roman" panose="02020603050405020304" pitchFamily="18" charset="0"/>
              <a:sym typeface="Times New Roman"/>
            </a:endParaRPr>
          </a:p>
        </p:txBody>
      </p:sp>
      <p:grpSp>
        <p:nvGrpSpPr>
          <p:cNvPr id="5" name="Group 5"/>
          <p:cNvGrpSpPr/>
          <p:nvPr/>
        </p:nvGrpSpPr>
        <p:grpSpPr>
          <a:xfrm>
            <a:off x="17047082" y="9391246"/>
            <a:ext cx="1097400" cy="787200"/>
            <a:chOff x="0" y="0"/>
            <a:chExt cx="1463200" cy="1049600"/>
          </a:xfrm>
        </p:grpSpPr>
        <p:sp>
          <p:nvSpPr>
            <p:cNvPr id="6" name="Freeform 6"/>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7" name="TextBox 7"/>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Times New Roman"/>
                  <a:ea typeface="Times New Roman"/>
                  <a:cs typeface="Times New Roman"/>
                  <a:sym typeface="Times New Roman"/>
                </a:rPr>
                <a:t>3</a:t>
              </a:r>
            </a:p>
          </p:txBody>
        </p:sp>
      </p:grpSp>
      <p:sp>
        <p:nvSpPr>
          <p:cNvPr id="8" name="TextBox 8"/>
          <p:cNvSpPr txBox="1"/>
          <p:nvPr/>
        </p:nvSpPr>
        <p:spPr>
          <a:xfrm>
            <a:off x="682685" y="330014"/>
            <a:ext cx="4101016" cy="993140"/>
          </a:xfrm>
          <a:prstGeom prst="rect">
            <a:avLst/>
          </a:prstGeom>
          <a:solidFill>
            <a:srgbClr val="4285F4"/>
          </a:solidFill>
        </p:spPr>
        <p:txBody>
          <a:bodyPr lIns="0" tIns="0" rIns="0" bIns="0" rtlCol="0" anchor="t">
            <a:spAutoFit/>
          </a:bodyPr>
          <a:lstStyle/>
          <a:p>
            <a:pPr algn="l">
              <a:lnSpc>
                <a:spcPts val="6719"/>
              </a:lnSpc>
            </a:pPr>
            <a:r>
              <a:rPr lang="en-US" sz="5599" b="1" dirty="0">
                <a:solidFill>
                  <a:srgbClr val="000000"/>
                </a:solidFill>
                <a:latin typeface="Times New Roman Bold"/>
                <a:ea typeface="Times New Roman Bold"/>
                <a:cs typeface="Times New Roman Bold"/>
                <a:sym typeface="Times New Roman Bold"/>
              </a:rPr>
              <a:t>Introduction</a:t>
            </a:r>
          </a:p>
        </p:txBody>
      </p:sp>
      <p:sp>
        <p:nvSpPr>
          <p:cNvPr id="11" name="Rectangle 3">
            <a:extLst>
              <a:ext uri="{FF2B5EF4-FFF2-40B4-BE49-F238E27FC236}">
                <a16:creationId xmlns:a16="http://schemas.microsoft.com/office/drawing/2014/main" id="{6A338EAC-3C94-B844-E737-38BD9BA98C37}"/>
              </a:ext>
            </a:extLst>
          </p:cNvPr>
          <p:cNvSpPr>
            <a:spLocks noChangeArrowheads="1"/>
          </p:cNvSpPr>
          <p:nvPr/>
        </p:nvSpPr>
        <p:spPr bwMode="auto">
          <a:xfrm>
            <a:off x="990600" y="3453943"/>
            <a:ext cx="99822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Radar-based scanning using </a:t>
            </a:r>
            <a:r>
              <a:rPr lang="en-US" altLang="en-US" sz="2800" dirty="0">
                <a:latin typeface="Times New Roman" panose="02020603050405020304" pitchFamily="18" charset="0"/>
                <a:cs typeface="Times New Roman" panose="02020603050405020304" pitchFamily="18" charset="0"/>
              </a:rPr>
              <a:t>Radar sensor</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 detection system with </a:t>
            </a:r>
            <a:r>
              <a:rPr lang="en-US" altLang="en-US" sz="2800" dirty="0">
                <a:latin typeface="Times New Roman" panose="02020603050405020304" pitchFamily="18" charset="0"/>
                <a:cs typeface="Times New Roman" panose="02020603050405020304" pitchFamily="18" charset="0"/>
              </a:rPr>
              <a:t>Ultrasonic/</a:t>
            </a:r>
            <a:r>
              <a:rPr lang="en-US" altLang="en-US" sz="2800" dirty="0" err="1">
                <a:latin typeface="Times New Roman" panose="02020603050405020304" pitchFamily="18" charset="0"/>
                <a:cs typeface="Times New Roman" panose="02020603050405020304" pitchFamily="18" charset="0"/>
              </a:rPr>
              <a:t>ToF</a:t>
            </a:r>
            <a:r>
              <a:rPr lang="en-US" altLang="en-US" sz="2800" dirty="0">
                <a:latin typeface="Times New Roman" panose="02020603050405020304" pitchFamily="18" charset="0"/>
                <a:cs typeface="Times New Roman" panose="02020603050405020304" pitchFamily="18" charset="0"/>
              </a:rPr>
              <a:t> sensor + servo motor</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GPS-based location tracking of detected events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Local data processing using ESP32 (edge computing)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sz="2800" dirty="0">
                <a:latin typeface="Times New Roman" panose="02020603050405020304" pitchFamily="18" charset="0"/>
                <a:cs typeface="Times New Roman" panose="02020603050405020304" pitchFamily="18" charset="0"/>
              </a:rPr>
              <a:t>  Bot to bot access of information in low network areas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ESP-NOW communication between nodes for fast data transfer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WebSocket-based dashboard for real-time monitoring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Multi-frame verification to reduce false alarms using ESP-CAM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 real-time surveillance and system operation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43866"/>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sp>
        <p:nvSpPr>
          <p:cNvPr id="4" name="TextBox 4"/>
          <p:cNvSpPr txBox="1"/>
          <p:nvPr/>
        </p:nvSpPr>
        <p:spPr>
          <a:xfrm>
            <a:off x="685800" y="1541302"/>
            <a:ext cx="16896584" cy="6961008"/>
          </a:xfrm>
          <a:prstGeom prst="rect">
            <a:avLst/>
          </a:prstGeom>
        </p:spPr>
        <p:txBody>
          <a:bodyPr wrap="square" lIns="0" tIns="0" rIns="0" bIns="0" rtlCol="0" anchor="t">
            <a:spAutoFit/>
          </a:bodyPr>
          <a:lstStyle/>
          <a:p>
            <a:pPr marL="477520" lvl="1" algn="just">
              <a:lnSpc>
                <a:spcPts val="3863"/>
              </a:lnSpc>
            </a:pPr>
            <a:endParaRPr lang="en-IN" sz="2800" dirty="0">
              <a:latin typeface="Times New Roman" panose="02020603050405020304" pitchFamily="18" charset="0"/>
              <a:cs typeface="Times New Roman" panose="02020603050405020304" pitchFamily="18" charset="0"/>
            </a:endParaRPr>
          </a:p>
          <a:p>
            <a:pPr marL="477520" lvl="1" algn="just">
              <a:lnSpc>
                <a:spcPts val="3863"/>
              </a:lnSpc>
            </a:pPr>
            <a:endParaRPr lang="en-IN" sz="2800" dirty="0">
              <a:latin typeface="Times New Roman" panose="02020603050405020304" pitchFamily="18" charset="0"/>
              <a:cs typeface="Times New Roman" panose="02020603050405020304" pitchFamily="18" charset="0"/>
            </a:endParaRPr>
          </a:p>
          <a:p>
            <a:pPr marL="477520" lvl="1" algn="just">
              <a:lnSpc>
                <a:spcPts val="3863"/>
              </a:lnSpc>
            </a:pPr>
            <a:r>
              <a:rPr lang="en-IN" sz="2800" dirty="0">
                <a:latin typeface="Times New Roman" panose="02020603050405020304" pitchFamily="18" charset="0"/>
                <a:cs typeface="Times New Roman" panose="02020603050405020304" pitchFamily="18" charset="0"/>
              </a:rPr>
              <a:t>Traditional border surveillance faces several challenges:</a:t>
            </a:r>
            <a:endParaRPr lang="en-US" sz="2799" dirty="0">
              <a:latin typeface="Times New Roman" panose="02020603050405020304" pitchFamily="18" charset="0"/>
              <a:ea typeface="Roboto"/>
              <a:cs typeface="Times New Roman" panose="02020603050405020304" pitchFamily="18" charset="0"/>
              <a:sym typeface="Roboto"/>
            </a:endParaRPr>
          </a:p>
          <a:p>
            <a:pPr marL="477520" lvl="1" algn="just">
              <a:lnSpc>
                <a:spcPts val="3863"/>
              </a:lnSpc>
            </a:pPr>
            <a:endParaRPr lang="en-US" sz="2799" dirty="0">
              <a:solidFill>
                <a:srgbClr val="424242"/>
              </a:solidFill>
              <a:latin typeface="Times New Roman" panose="02020603050405020304" pitchFamily="18" charset="0"/>
              <a:ea typeface="Roboto"/>
              <a:cs typeface="Times New Roman" panose="02020603050405020304" pitchFamily="18" charset="0"/>
              <a:sym typeface="Roboto"/>
            </a:endParaRPr>
          </a:p>
          <a:p>
            <a:pPr marL="477520" lvl="1" algn="just">
              <a:lnSpc>
                <a:spcPts val="3863"/>
              </a:lnSpc>
            </a:pPr>
            <a:endParaRPr lang="en-US" sz="2800" dirty="0">
              <a:latin typeface="Times New Roman" panose="02020603050405020304" pitchFamily="18" charset="0"/>
              <a:cs typeface="Times New Roman" panose="02020603050405020304" pitchFamily="18" charset="0"/>
            </a:endParaRPr>
          </a:p>
          <a:p>
            <a:pPr marL="477520" lvl="1" algn="just">
              <a:lnSpc>
                <a:spcPts val="3863"/>
              </a:lnSpc>
            </a:pPr>
            <a:endParaRPr lang="en-US" sz="2800" dirty="0">
              <a:latin typeface="Times New Roman" panose="02020603050405020304" pitchFamily="18" charset="0"/>
              <a:cs typeface="Times New Roman" panose="02020603050405020304" pitchFamily="18" charset="0"/>
            </a:endParaRPr>
          </a:p>
          <a:p>
            <a:pPr marL="477520" lvl="1" algn="just">
              <a:lnSpc>
                <a:spcPts val="3863"/>
              </a:lnSpc>
            </a:pPr>
            <a:endParaRPr lang="en-US" sz="2800" dirty="0">
              <a:latin typeface="Times New Roman" panose="02020603050405020304" pitchFamily="18" charset="0"/>
              <a:cs typeface="Times New Roman" panose="02020603050405020304" pitchFamily="18" charset="0"/>
            </a:endParaRPr>
          </a:p>
          <a:p>
            <a:pPr marL="477520" lvl="1" algn="just">
              <a:lnSpc>
                <a:spcPts val="3863"/>
              </a:lnSpc>
            </a:pPr>
            <a:endParaRPr lang="en-US" sz="2800" dirty="0">
              <a:latin typeface="Times New Roman" panose="02020603050405020304" pitchFamily="18" charset="0"/>
              <a:cs typeface="Times New Roman" panose="02020603050405020304" pitchFamily="18" charset="0"/>
            </a:endParaRPr>
          </a:p>
          <a:p>
            <a:pPr marL="477520" lvl="1" algn="just">
              <a:lnSpc>
                <a:spcPts val="3863"/>
              </a:lnSpc>
            </a:pPr>
            <a:endParaRPr lang="en-US" sz="2800" dirty="0">
              <a:latin typeface="Times New Roman" panose="02020603050405020304" pitchFamily="18" charset="0"/>
              <a:cs typeface="Times New Roman" panose="02020603050405020304" pitchFamily="18" charset="0"/>
            </a:endParaRPr>
          </a:p>
          <a:p>
            <a:pPr marL="477520" lvl="1" algn="just">
              <a:lnSpc>
                <a:spcPts val="3863"/>
              </a:lnSpc>
            </a:pPr>
            <a:endParaRPr lang="en-US" sz="2800" dirty="0">
              <a:latin typeface="Times New Roman" panose="02020603050405020304" pitchFamily="18" charset="0"/>
              <a:cs typeface="Times New Roman" panose="02020603050405020304" pitchFamily="18" charset="0"/>
            </a:endParaRPr>
          </a:p>
          <a:p>
            <a:pPr marL="477520" lvl="1" algn="just">
              <a:lnSpc>
                <a:spcPts val="3863"/>
              </a:lnSpc>
            </a:pPr>
            <a:r>
              <a:rPr lang="en-US" sz="2800" dirty="0">
                <a:latin typeface="Times New Roman" panose="02020603050405020304" pitchFamily="18" charset="0"/>
                <a:cs typeface="Times New Roman" panose="02020603050405020304" pitchFamily="18" charset="0"/>
              </a:rPr>
              <a:t>Existing border surveillance systems are not efficient for large and complex areas. They depend heavily on manual monitoring and have limitations like blind spots and delayed response. This is needed for a smart, low-cost system that can monitor continuously and provide real-time alerts.</a:t>
            </a:r>
          </a:p>
          <a:p>
            <a:pPr marL="477520" lvl="1" algn="just">
              <a:lnSpc>
                <a:spcPts val="3863"/>
              </a:lnSpc>
            </a:pPr>
            <a:endParaRPr lang="en-US" sz="2800" dirty="0">
              <a:solidFill>
                <a:srgbClr val="424242"/>
              </a:solidFill>
              <a:latin typeface="Times New Roman" panose="02020603050405020304" pitchFamily="18" charset="0"/>
              <a:ea typeface="Roboto"/>
              <a:cs typeface="Times New Roman" panose="02020603050405020304" pitchFamily="18" charset="0"/>
              <a:sym typeface="Roboto"/>
            </a:endParaRPr>
          </a:p>
        </p:txBody>
      </p:sp>
      <p:grpSp>
        <p:nvGrpSpPr>
          <p:cNvPr id="5" name="Group 5"/>
          <p:cNvGrpSpPr/>
          <p:nvPr/>
        </p:nvGrpSpPr>
        <p:grpSpPr>
          <a:xfrm>
            <a:off x="17047082" y="9391246"/>
            <a:ext cx="1097400" cy="787200"/>
            <a:chOff x="0" y="0"/>
            <a:chExt cx="1463200" cy="1049600"/>
          </a:xfrm>
        </p:grpSpPr>
        <p:sp>
          <p:nvSpPr>
            <p:cNvPr id="6" name="Freeform 6"/>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7" name="TextBox 7"/>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Times New Roman"/>
                  <a:ea typeface="Times New Roman"/>
                  <a:cs typeface="Times New Roman"/>
                  <a:sym typeface="Times New Roman"/>
                </a:rPr>
                <a:t>7</a:t>
              </a:r>
            </a:p>
          </p:txBody>
        </p:sp>
      </p:grpSp>
      <p:sp>
        <p:nvSpPr>
          <p:cNvPr id="8" name="TextBox 8"/>
          <p:cNvSpPr txBox="1"/>
          <p:nvPr/>
        </p:nvSpPr>
        <p:spPr>
          <a:xfrm>
            <a:off x="467491" y="305914"/>
            <a:ext cx="7276674" cy="993060"/>
          </a:xfrm>
          <a:prstGeom prst="rect">
            <a:avLst/>
          </a:prstGeom>
        </p:spPr>
        <p:txBody>
          <a:bodyPr lIns="0" tIns="0" rIns="0" bIns="0" rtlCol="0" anchor="t">
            <a:spAutoFit/>
          </a:bodyPr>
          <a:lstStyle/>
          <a:p>
            <a:pPr algn="l">
              <a:lnSpc>
                <a:spcPts val="6719"/>
              </a:lnSpc>
            </a:pPr>
            <a:r>
              <a:rPr lang="en-US" sz="5599" b="1">
                <a:solidFill>
                  <a:srgbClr val="000000"/>
                </a:solidFill>
                <a:latin typeface="Times New Roman Bold"/>
                <a:ea typeface="Times New Roman Bold"/>
                <a:cs typeface="Times New Roman Bold"/>
                <a:sym typeface="Times New Roman Bold"/>
              </a:rPr>
              <a:t>Problem Description </a:t>
            </a:r>
          </a:p>
        </p:txBody>
      </p:sp>
      <p:sp>
        <p:nvSpPr>
          <p:cNvPr id="12" name="Rectangle 3">
            <a:extLst>
              <a:ext uri="{FF2B5EF4-FFF2-40B4-BE49-F238E27FC236}">
                <a16:creationId xmlns:a16="http://schemas.microsoft.com/office/drawing/2014/main" id="{97CBD838-3E56-0744-F896-E5E04D471A46}"/>
              </a:ext>
            </a:extLst>
          </p:cNvPr>
          <p:cNvSpPr>
            <a:spLocks noChangeArrowheads="1"/>
          </p:cNvSpPr>
          <p:nvPr/>
        </p:nvSpPr>
        <p:spPr bwMode="auto">
          <a:xfrm>
            <a:off x="838200" y="2751954"/>
            <a:ext cx="938109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Border areas are large and difficult to monitor continuously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patrolling is time-consuming and unsafe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Existing systems have limited coverage and blind spots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Delay in detection can lead to security risks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data load increases human error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Advanced systems are expensive for </a:t>
            </a: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large-scale deployment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effectLst/>
                <a:latin typeface="Times New Roman" panose="02020603050405020304" pitchFamily="18" charset="0"/>
                <a:cs typeface="Times New Roman" panose="02020603050405020304" pitchFamily="18" charset="0"/>
              </a:rPr>
              <a:t>  Need for a low-cost, real-time automated surveillance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295749"/>
            <a:ext cx="18288000" cy="8991249"/>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sp>
        <p:nvSpPr>
          <p:cNvPr id="4" name="TextBox 4"/>
          <p:cNvSpPr txBox="1"/>
          <p:nvPr/>
        </p:nvSpPr>
        <p:spPr>
          <a:xfrm>
            <a:off x="290479" y="1878432"/>
            <a:ext cx="17616522" cy="459228"/>
          </a:xfrm>
          <a:prstGeom prst="rect">
            <a:avLst/>
          </a:prstGeom>
        </p:spPr>
        <p:txBody>
          <a:bodyPr wrap="square" lIns="0" tIns="0" rIns="0" bIns="0" rtlCol="0" anchor="t">
            <a:spAutoFit/>
          </a:bodyPr>
          <a:lstStyle/>
          <a:p>
            <a:pPr marL="955040" lvl="1" indent="-477520" algn="just">
              <a:lnSpc>
                <a:spcPts val="3863"/>
              </a:lnSpc>
              <a:buFont typeface="Arial"/>
              <a:buChar char="•"/>
            </a:pPr>
            <a:endParaRPr lang="en-US" sz="2799" dirty="0">
              <a:solidFill>
                <a:srgbClr val="424242"/>
              </a:solidFill>
              <a:latin typeface="Times New Roman" panose="02020603050405020304" pitchFamily="18" charset="0"/>
              <a:ea typeface="Roboto"/>
              <a:cs typeface="Times New Roman" panose="02020603050405020304" pitchFamily="18" charset="0"/>
              <a:sym typeface="Roboto"/>
            </a:endParaRPr>
          </a:p>
        </p:txBody>
      </p:sp>
      <p:sp>
        <p:nvSpPr>
          <p:cNvPr id="8" name="TextBox 8"/>
          <p:cNvSpPr txBox="1"/>
          <p:nvPr/>
        </p:nvSpPr>
        <p:spPr>
          <a:xfrm>
            <a:off x="528527" y="302610"/>
            <a:ext cx="3414930" cy="993140"/>
          </a:xfrm>
          <a:prstGeom prst="rect">
            <a:avLst/>
          </a:prstGeom>
        </p:spPr>
        <p:txBody>
          <a:bodyPr lIns="0" tIns="0" rIns="0" bIns="0" rtlCol="0" anchor="t">
            <a:spAutoFit/>
          </a:bodyPr>
          <a:lstStyle/>
          <a:p>
            <a:pPr algn="l">
              <a:lnSpc>
                <a:spcPts val="6719"/>
              </a:lnSpc>
            </a:pPr>
            <a:r>
              <a:rPr lang="en-US" sz="5599" b="1">
                <a:solidFill>
                  <a:srgbClr val="000000"/>
                </a:solidFill>
                <a:latin typeface="Times New Roman Bold"/>
                <a:ea typeface="Times New Roman Bold"/>
                <a:cs typeface="Times New Roman Bold"/>
                <a:sym typeface="Times New Roman Bold"/>
              </a:rPr>
              <a:t>Objectives</a:t>
            </a:r>
          </a:p>
        </p:txBody>
      </p:sp>
      <p:sp>
        <p:nvSpPr>
          <p:cNvPr id="10" name="Rectangle 2">
            <a:extLst>
              <a:ext uri="{FF2B5EF4-FFF2-40B4-BE49-F238E27FC236}">
                <a16:creationId xmlns:a16="http://schemas.microsoft.com/office/drawing/2014/main" id="{C6E19706-AEFE-61FC-52A1-2BED65C14A58}"/>
              </a:ext>
            </a:extLst>
          </p:cNvPr>
          <p:cNvSpPr>
            <a:spLocks noChangeArrowheads="1"/>
          </p:cNvSpPr>
          <p:nvPr/>
        </p:nvSpPr>
        <p:spPr bwMode="auto">
          <a:xfrm>
            <a:off x="761999" y="162463"/>
            <a:ext cx="17145001" cy="9294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 basic Object detection using </a:t>
            </a:r>
            <a:r>
              <a:rPr lang="en-US" altLang="en-US" sz="3200" dirty="0">
                <a:latin typeface="Times New Roman" panose="02020603050405020304" pitchFamily="18" charset="0"/>
                <a:cs typeface="Times New Roman" panose="02020603050405020304" pitchFamily="18" charset="0"/>
              </a:rPr>
              <a:t>Ultrasonic / </a:t>
            </a:r>
            <a:r>
              <a:rPr lang="en-US" altLang="en-US" sz="3200" dirty="0" err="1">
                <a:latin typeface="Times New Roman" panose="02020603050405020304" pitchFamily="18" charset="0"/>
                <a:cs typeface="Times New Roman" panose="02020603050405020304" pitchFamily="18" charset="0"/>
              </a:rPr>
              <a:t>ToF</a:t>
            </a:r>
            <a:r>
              <a:rPr lang="en-US" altLang="en-US" sz="3200" dirty="0">
                <a:latin typeface="Times New Roman" panose="02020603050405020304" pitchFamily="18" charset="0"/>
                <a:cs typeface="Times New Roman" panose="02020603050405020304" pitchFamily="18" charset="0"/>
              </a:rPr>
              <a:t> (VL53L0X) sensors</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servo motor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32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altLang="en-US" sz="3200" dirty="0">
                <a:latin typeface="Times New Roman" panose="02020603050405020304" pitchFamily="18" charset="0"/>
                <a:cs typeface="Times New Roman" panose="02020603050405020304" pitchFamily="18" charset="0"/>
              </a:rPr>
              <a:t> Develop radar-style scanning using Radar sensor (HLK- LD24106)</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 GPS for location tracking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Establish ESP-NOW communication between nodes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 WebSocket-based dashboard for real-time monitoring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 local data processing on ESP32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 false alarms using multi-frame verification </a:t>
            </a:r>
            <a:r>
              <a:rPr lang="en-US" altLang="en-US" sz="3200" dirty="0">
                <a:latin typeface="Times New Roman" panose="02020603050405020304" pitchFamily="18" charset="0"/>
                <a:cs typeface="Times New Roman" panose="02020603050405020304" pitchFamily="18" charset="0"/>
              </a:rPr>
              <a:t>from ESP-CAM</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3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200" dirty="0">
                <a:latin typeface="Times New Roman" panose="02020603050405020304" pitchFamily="18" charset="0"/>
                <a:cs typeface="Times New Roman" panose="02020603050405020304" pitchFamily="18" charset="0"/>
              </a:rPr>
              <a:t>  Threat classification as animal/human using YOLOv8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43866"/>
            <a:ext cx="18288000" cy="8643175"/>
            <a:chOff x="0" y="0"/>
            <a:chExt cx="24384000" cy="11524234"/>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sp>
        <p:nvSpPr>
          <p:cNvPr id="4" name="TextBox 4"/>
          <p:cNvSpPr txBox="1"/>
          <p:nvPr/>
        </p:nvSpPr>
        <p:spPr>
          <a:xfrm>
            <a:off x="564175" y="1879212"/>
            <a:ext cx="17371140" cy="1322991"/>
          </a:xfrm>
          <a:prstGeom prst="rect">
            <a:avLst/>
          </a:prstGeom>
        </p:spPr>
        <p:txBody>
          <a:bodyPr lIns="0" tIns="0" rIns="0" bIns="0" rtlCol="0" anchor="t">
            <a:spAutoFit/>
          </a:bodyPr>
          <a:lstStyle/>
          <a:p>
            <a:pPr algn="l">
              <a:lnSpc>
                <a:spcPts val="4320"/>
              </a:lnSpc>
            </a:pPr>
            <a:r>
              <a:rPr lang="en-US" sz="3600" b="1" dirty="0">
                <a:solidFill>
                  <a:srgbClr val="000000"/>
                </a:solidFill>
                <a:latin typeface="Times New Roman Bold"/>
                <a:ea typeface="Times New Roman Bold"/>
                <a:cs typeface="Times New Roman Bold"/>
                <a:sym typeface="Times New Roman Bold"/>
              </a:rPr>
              <a:t>Hardware Requirements:</a:t>
            </a:r>
          </a:p>
          <a:p>
            <a:pPr algn="l">
              <a:lnSpc>
                <a:spcPts val="4320"/>
              </a:lnSpc>
            </a:pPr>
            <a:r>
              <a:rPr lang="en-US" sz="3600" dirty="0">
                <a:solidFill>
                  <a:srgbClr val="424242"/>
                </a:solidFill>
                <a:latin typeface="Times New Roman"/>
                <a:ea typeface="Times New Roman"/>
                <a:cs typeface="Times New Roman"/>
                <a:sym typeface="Times New Roman"/>
              </a:rPr>
              <a:t> </a:t>
            </a:r>
          </a:p>
        </p:txBody>
      </p:sp>
      <p:sp>
        <p:nvSpPr>
          <p:cNvPr id="8" name="TextBox 8"/>
          <p:cNvSpPr txBox="1"/>
          <p:nvPr/>
        </p:nvSpPr>
        <p:spPr>
          <a:xfrm>
            <a:off x="405397" y="323852"/>
            <a:ext cx="15200378" cy="993060"/>
          </a:xfrm>
          <a:prstGeom prst="rect">
            <a:avLst/>
          </a:prstGeom>
        </p:spPr>
        <p:txBody>
          <a:bodyPr lIns="0" tIns="0" rIns="0" bIns="0" rtlCol="0" anchor="t">
            <a:spAutoFit/>
          </a:bodyPr>
          <a:lstStyle/>
          <a:p>
            <a:pPr algn="l">
              <a:lnSpc>
                <a:spcPts val="6719"/>
              </a:lnSpc>
            </a:pPr>
            <a:r>
              <a:rPr lang="en-US" sz="5599" b="1">
                <a:solidFill>
                  <a:srgbClr val="000000"/>
                </a:solidFill>
                <a:latin typeface="Times New Roman Bold"/>
                <a:ea typeface="Times New Roman Bold"/>
                <a:cs typeface="Times New Roman Bold"/>
                <a:sym typeface="Times New Roman Bold"/>
              </a:rPr>
              <a:t>Hardware Requirements Specification</a:t>
            </a:r>
          </a:p>
        </p:txBody>
      </p:sp>
      <p:graphicFrame>
        <p:nvGraphicFramePr>
          <p:cNvPr id="10" name="Table 9">
            <a:extLst>
              <a:ext uri="{FF2B5EF4-FFF2-40B4-BE49-F238E27FC236}">
                <a16:creationId xmlns:a16="http://schemas.microsoft.com/office/drawing/2014/main" id="{70561CF9-B378-520E-FF2D-8147B1FEC381}"/>
              </a:ext>
            </a:extLst>
          </p:cNvPr>
          <p:cNvGraphicFramePr>
            <a:graphicFrameLocks noGrp="1"/>
          </p:cNvGraphicFramePr>
          <p:nvPr>
            <p:extLst>
              <p:ext uri="{D42A27DB-BD31-4B8C-83A1-F6EECF244321}">
                <p14:modId xmlns:p14="http://schemas.microsoft.com/office/powerpoint/2010/main" val="2080839794"/>
              </p:ext>
            </p:extLst>
          </p:nvPr>
        </p:nvGraphicFramePr>
        <p:xfrm>
          <a:off x="1295400" y="2421190"/>
          <a:ext cx="11234225" cy="7348358"/>
        </p:xfrm>
        <a:graphic>
          <a:graphicData uri="http://schemas.openxmlformats.org/drawingml/2006/table">
            <a:tbl>
              <a:tblPr>
                <a:tableStyleId>{2D5ABB26-0587-4C30-8999-92F81FD0307C}</a:tableStyleId>
              </a:tblPr>
              <a:tblGrid>
                <a:gridCol w="2488101">
                  <a:extLst>
                    <a:ext uri="{9D8B030D-6E8A-4147-A177-3AD203B41FA5}">
                      <a16:colId xmlns:a16="http://schemas.microsoft.com/office/drawing/2014/main" val="1617859631"/>
                    </a:ext>
                  </a:extLst>
                </a:gridCol>
                <a:gridCol w="2959046">
                  <a:extLst>
                    <a:ext uri="{9D8B030D-6E8A-4147-A177-3AD203B41FA5}">
                      <a16:colId xmlns:a16="http://schemas.microsoft.com/office/drawing/2014/main" val="1398231129"/>
                    </a:ext>
                  </a:extLst>
                </a:gridCol>
                <a:gridCol w="1764569">
                  <a:extLst>
                    <a:ext uri="{9D8B030D-6E8A-4147-A177-3AD203B41FA5}">
                      <a16:colId xmlns:a16="http://schemas.microsoft.com/office/drawing/2014/main" val="1201335258"/>
                    </a:ext>
                  </a:extLst>
                </a:gridCol>
                <a:gridCol w="4022509">
                  <a:extLst>
                    <a:ext uri="{9D8B030D-6E8A-4147-A177-3AD203B41FA5}">
                      <a16:colId xmlns:a16="http://schemas.microsoft.com/office/drawing/2014/main" val="567903963"/>
                    </a:ext>
                  </a:extLst>
                </a:gridCol>
              </a:tblGrid>
              <a:tr h="741110">
                <a:tc>
                  <a:txBody>
                    <a:bodyPr/>
                    <a:lstStyle/>
                    <a:p>
                      <a:pPr algn="ctr">
                        <a:buNone/>
                      </a:pPr>
                      <a:r>
                        <a:rPr lang="en-IN" sz="2400" b="1" dirty="0">
                          <a:latin typeface="Times New Roman" panose="02020603050405020304" pitchFamily="18" charset="0"/>
                          <a:cs typeface="Times New Roman" panose="02020603050405020304" pitchFamily="18" charset="0"/>
                        </a:rPr>
                        <a:t>Sl. No</a:t>
                      </a:r>
                    </a:p>
                  </a:txBody>
                  <a:tcPr marL="48666" marR="48666" marT="24333" marB="24333" anchor="ctr"/>
                </a:tc>
                <a:tc>
                  <a:txBody>
                    <a:bodyPr/>
                    <a:lstStyle/>
                    <a:p>
                      <a:pPr algn="ctr">
                        <a:buNone/>
                      </a:pPr>
                      <a:r>
                        <a:rPr lang="en-IN" sz="2400" b="1" dirty="0">
                          <a:latin typeface="Times New Roman" panose="02020603050405020304" pitchFamily="18" charset="0"/>
                          <a:cs typeface="Times New Roman" panose="02020603050405020304" pitchFamily="18" charset="0"/>
                        </a:rPr>
                        <a:t>Component Name</a:t>
                      </a:r>
                    </a:p>
                  </a:txBody>
                  <a:tcPr marL="48666" marR="48666" marT="24333" marB="24333" anchor="ctr"/>
                </a:tc>
                <a:tc>
                  <a:txBody>
                    <a:bodyPr/>
                    <a:lstStyle/>
                    <a:p>
                      <a:pPr algn="ctr">
                        <a:buNone/>
                      </a:pPr>
                      <a:r>
                        <a:rPr lang="en-IN" sz="2400" b="1" dirty="0">
                          <a:latin typeface="Times New Roman" panose="02020603050405020304" pitchFamily="18" charset="0"/>
                          <a:cs typeface="Times New Roman" panose="02020603050405020304" pitchFamily="18" charset="0"/>
                        </a:rPr>
                        <a:t>Quantity</a:t>
                      </a:r>
                    </a:p>
                  </a:txBody>
                  <a:tcPr marL="48666" marR="48666" marT="24333" marB="24333" anchor="ctr"/>
                </a:tc>
                <a:tc>
                  <a:txBody>
                    <a:bodyPr/>
                    <a:lstStyle/>
                    <a:p>
                      <a:pPr algn="ctr">
                        <a:buNone/>
                      </a:pPr>
                      <a:r>
                        <a:rPr lang="en-IN" sz="2400" b="1" dirty="0">
                          <a:latin typeface="Times New Roman" panose="02020603050405020304" pitchFamily="18" charset="0"/>
                          <a:cs typeface="Times New Roman" panose="02020603050405020304" pitchFamily="18" charset="0"/>
                        </a:rPr>
                        <a:t>Key Features</a:t>
                      </a:r>
                    </a:p>
                  </a:txBody>
                  <a:tcPr marL="48666" marR="48666" marT="24333" marB="24333" anchor="ctr"/>
                </a:tc>
                <a:extLst>
                  <a:ext uri="{0D108BD9-81ED-4DB2-BD59-A6C34878D82A}">
                    <a16:rowId xmlns:a16="http://schemas.microsoft.com/office/drawing/2014/main" val="708630307"/>
                  </a:ext>
                </a:extLst>
              </a:tr>
              <a:tr h="632661">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IN" sz="2400" dirty="0">
                          <a:latin typeface="Times New Roman" panose="02020603050405020304" pitchFamily="18" charset="0"/>
                          <a:cs typeface="Times New Roman" panose="02020603050405020304" pitchFamily="18" charset="0"/>
                        </a:rPr>
                        <a:t>ESP32 Microcontroller</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US" sz="2400" dirty="0">
                          <a:latin typeface="Times New Roman" panose="02020603050405020304" pitchFamily="18" charset="0"/>
                          <a:cs typeface="Times New Roman" panose="02020603050405020304" pitchFamily="18" charset="0"/>
                        </a:rPr>
                        <a:t>Main control unit, built-in Wi-Fi, supports real-time processing</a:t>
                      </a:r>
                    </a:p>
                  </a:txBody>
                  <a:tcPr marL="48666" marR="48666" marT="24333" marB="24333" anchor="ctr"/>
                </a:tc>
                <a:extLst>
                  <a:ext uri="{0D108BD9-81ED-4DB2-BD59-A6C34878D82A}">
                    <a16:rowId xmlns:a16="http://schemas.microsoft.com/office/drawing/2014/main" val="1043070311"/>
                  </a:ext>
                </a:extLst>
              </a:tr>
              <a:tr h="632661">
                <a:tc>
                  <a:txBody>
                    <a:bodyPr/>
                    <a:lstStyle/>
                    <a:p>
                      <a:pPr algn="ctr">
                        <a:buNone/>
                      </a:pPr>
                      <a:r>
                        <a:rPr lang="en-IN" sz="2400" dirty="0">
                          <a:latin typeface="Times New Roman" panose="02020603050405020304" pitchFamily="18" charset="0"/>
                          <a:cs typeface="Times New Roman" panose="02020603050405020304" pitchFamily="18" charset="0"/>
                        </a:rPr>
                        <a:t>2</a:t>
                      </a:r>
                    </a:p>
                  </a:txBody>
                  <a:tcPr marL="48666" marR="48666" marT="24333" marB="24333" anchor="ctr"/>
                </a:tc>
                <a:tc>
                  <a:txBody>
                    <a:bodyPr/>
                    <a:lstStyle/>
                    <a:p>
                      <a:pPr>
                        <a:buNone/>
                      </a:pPr>
                      <a:r>
                        <a:rPr lang="en-IN" sz="2400" dirty="0">
                          <a:latin typeface="Times New Roman" panose="02020603050405020304" pitchFamily="18" charset="0"/>
                          <a:cs typeface="Times New Roman" panose="02020603050405020304" pitchFamily="18" charset="0"/>
                        </a:rPr>
                        <a:t>ESP32-CAM Module</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US" sz="2400">
                          <a:latin typeface="Times New Roman" panose="02020603050405020304" pitchFamily="18" charset="0"/>
                          <a:cs typeface="Times New Roman" panose="02020603050405020304" pitchFamily="18" charset="0"/>
                        </a:rPr>
                        <a:t>Image capture, supports basic AI detection, low power</a:t>
                      </a:r>
                    </a:p>
                  </a:txBody>
                  <a:tcPr marL="48666" marR="48666" marT="24333" marB="24333" anchor="ctr"/>
                </a:tc>
                <a:extLst>
                  <a:ext uri="{0D108BD9-81ED-4DB2-BD59-A6C34878D82A}">
                    <a16:rowId xmlns:a16="http://schemas.microsoft.com/office/drawing/2014/main" val="2929930195"/>
                  </a:ext>
                </a:extLst>
              </a:tr>
              <a:tr h="632661">
                <a:tc>
                  <a:txBody>
                    <a:bodyPr/>
                    <a:lstStyle/>
                    <a:p>
                      <a:pPr algn="ctr">
                        <a:buNone/>
                      </a:pPr>
                      <a:r>
                        <a:rPr lang="en-IN" sz="2400" dirty="0">
                          <a:latin typeface="Times New Roman" panose="02020603050405020304" pitchFamily="18" charset="0"/>
                          <a:cs typeface="Times New Roman" panose="02020603050405020304" pitchFamily="18" charset="0"/>
                        </a:rPr>
                        <a:t>3</a:t>
                      </a:r>
                    </a:p>
                  </a:txBody>
                  <a:tcPr marL="48666" marR="48666" marT="24333" marB="24333" anchor="ctr"/>
                </a:tc>
                <a:tc>
                  <a:txBody>
                    <a:bodyPr/>
                    <a:lstStyle/>
                    <a:p>
                      <a:pPr>
                        <a:buNone/>
                      </a:pPr>
                      <a:r>
                        <a:rPr lang="en-IN" sz="2400">
                          <a:latin typeface="Times New Roman" panose="02020603050405020304" pitchFamily="18" charset="0"/>
                          <a:cs typeface="Times New Roman" panose="02020603050405020304" pitchFamily="18" charset="0"/>
                        </a:rPr>
                        <a:t>Ultrasonic Sensor</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US" sz="2400" dirty="0">
                          <a:latin typeface="Times New Roman" panose="02020603050405020304" pitchFamily="18" charset="0"/>
                          <a:cs typeface="Times New Roman" panose="02020603050405020304" pitchFamily="18" charset="0"/>
                        </a:rPr>
                        <a:t>Distance measurement, real-time object detection</a:t>
                      </a:r>
                    </a:p>
                  </a:txBody>
                  <a:tcPr marL="48666" marR="48666" marT="24333" marB="24333" anchor="ctr"/>
                </a:tc>
                <a:extLst>
                  <a:ext uri="{0D108BD9-81ED-4DB2-BD59-A6C34878D82A}">
                    <a16:rowId xmlns:a16="http://schemas.microsoft.com/office/drawing/2014/main" val="1523949439"/>
                  </a:ext>
                </a:extLst>
              </a:tr>
              <a:tr h="486663">
                <a:tc>
                  <a:txBody>
                    <a:bodyPr/>
                    <a:lstStyle/>
                    <a:p>
                      <a:pPr algn="ctr">
                        <a:buNone/>
                      </a:pPr>
                      <a:r>
                        <a:rPr lang="en-IN" sz="2400" dirty="0">
                          <a:latin typeface="Times New Roman" panose="02020603050405020304" pitchFamily="18" charset="0"/>
                          <a:cs typeface="Times New Roman" panose="02020603050405020304" pitchFamily="18" charset="0"/>
                        </a:rPr>
                        <a:t>4</a:t>
                      </a:r>
                    </a:p>
                  </a:txBody>
                  <a:tcPr marL="48666" marR="48666" marT="24333" marB="24333" anchor="ctr"/>
                </a:tc>
                <a:tc>
                  <a:txBody>
                    <a:bodyPr/>
                    <a:lstStyle/>
                    <a:p>
                      <a:pPr>
                        <a:buNone/>
                      </a:pPr>
                      <a:r>
                        <a:rPr lang="en-IN" sz="2400">
                          <a:latin typeface="Times New Roman" panose="02020603050405020304" pitchFamily="18" charset="0"/>
                          <a:cs typeface="Times New Roman" panose="02020603050405020304" pitchFamily="18" charset="0"/>
                        </a:rPr>
                        <a:t>Servo Motor</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IN" sz="2400" dirty="0">
                          <a:latin typeface="Times New Roman" panose="02020603050405020304" pitchFamily="18" charset="0"/>
                          <a:cs typeface="Times New Roman" panose="02020603050405020304" pitchFamily="18" charset="0"/>
                        </a:rPr>
                        <a:t>Rotates sensor, enables radar-style scanning</a:t>
                      </a:r>
                    </a:p>
                  </a:txBody>
                  <a:tcPr marL="48666" marR="48666" marT="24333" marB="24333" anchor="ctr"/>
                </a:tc>
                <a:extLst>
                  <a:ext uri="{0D108BD9-81ED-4DB2-BD59-A6C34878D82A}">
                    <a16:rowId xmlns:a16="http://schemas.microsoft.com/office/drawing/2014/main" val="2276076837"/>
                  </a:ext>
                </a:extLst>
              </a:tr>
              <a:tr h="486663">
                <a:tc>
                  <a:txBody>
                    <a:bodyPr/>
                    <a:lstStyle/>
                    <a:p>
                      <a:pPr algn="ctr">
                        <a:buNone/>
                      </a:pPr>
                      <a:r>
                        <a:rPr lang="en-IN" sz="2400" dirty="0">
                          <a:latin typeface="Times New Roman" panose="02020603050405020304" pitchFamily="18" charset="0"/>
                          <a:cs typeface="Times New Roman" panose="02020603050405020304" pitchFamily="18" charset="0"/>
                        </a:rPr>
                        <a:t>5</a:t>
                      </a:r>
                    </a:p>
                  </a:txBody>
                  <a:tcPr marL="48666" marR="48666" marT="24333" marB="24333" anchor="ctr"/>
                </a:tc>
                <a:tc>
                  <a:txBody>
                    <a:bodyPr/>
                    <a:lstStyle/>
                    <a:p>
                      <a:pPr>
                        <a:buNone/>
                      </a:pPr>
                      <a:r>
                        <a:rPr lang="en-IN" sz="2400">
                          <a:latin typeface="Times New Roman" panose="02020603050405020304" pitchFamily="18" charset="0"/>
                          <a:cs typeface="Times New Roman" panose="02020603050405020304" pitchFamily="18" charset="0"/>
                        </a:rPr>
                        <a:t>GPS Module</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IN" sz="2400" dirty="0">
                          <a:latin typeface="Times New Roman" panose="02020603050405020304" pitchFamily="18" charset="0"/>
                          <a:cs typeface="Times New Roman" panose="02020603050405020304" pitchFamily="18" charset="0"/>
                        </a:rPr>
                        <a:t>Provides location coordinates, supports tracking</a:t>
                      </a:r>
                    </a:p>
                  </a:txBody>
                  <a:tcPr marL="48666" marR="48666" marT="24333" marB="24333" anchor="ctr"/>
                </a:tc>
                <a:extLst>
                  <a:ext uri="{0D108BD9-81ED-4DB2-BD59-A6C34878D82A}">
                    <a16:rowId xmlns:a16="http://schemas.microsoft.com/office/drawing/2014/main" val="2640831821"/>
                  </a:ext>
                </a:extLst>
              </a:tr>
              <a:tr h="486663">
                <a:tc>
                  <a:txBody>
                    <a:bodyPr/>
                    <a:lstStyle/>
                    <a:p>
                      <a:pPr algn="ctr">
                        <a:buNone/>
                      </a:pPr>
                      <a:r>
                        <a:rPr lang="en-IN" sz="2400" dirty="0">
                          <a:latin typeface="Times New Roman" panose="02020603050405020304" pitchFamily="18" charset="0"/>
                          <a:cs typeface="Times New Roman" panose="02020603050405020304" pitchFamily="18" charset="0"/>
                        </a:rPr>
                        <a:t>6</a:t>
                      </a:r>
                    </a:p>
                  </a:txBody>
                  <a:tcPr marL="48666" marR="48666" marT="24333" marB="24333" anchor="ctr"/>
                </a:tc>
                <a:tc>
                  <a:txBody>
                    <a:bodyPr/>
                    <a:lstStyle/>
                    <a:p>
                      <a:pPr>
                        <a:buNone/>
                      </a:pPr>
                      <a:r>
                        <a:rPr lang="en-IN" sz="2400">
                          <a:latin typeface="Times New Roman" panose="02020603050405020304" pitchFamily="18" charset="0"/>
                          <a:cs typeface="Times New Roman" panose="02020603050405020304" pitchFamily="18" charset="0"/>
                        </a:rPr>
                        <a:t>Temperature &amp; Humidity Sensor</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IN" sz="2400" dirty="0">
                          <a:latin typeface="Times New Roman" panose="02020603050405020304" pitchFamily="18" charset="0"/>
                          <a:cs typeface="Times New Roman" panose="02020603050405020304" pitchFamily="18" charset="0"/>
                        </a:rPr>
                        <a:t>Monitors environmental conditions</a:t>
                      </a:r>
                    </a:p>
                  </a:txBody>
                  <a:tcPr marL="48666" marR="48666" marT="24333" marB="24333" anchor="ctr"/>
                </a:tc>
                <a:extLst>
                  <a:ext uri="{0D108BD9-81ED-4DB2-BD59-A6C34878D82A}">
                    <a16:rowId xmlns:a16="http://schemas.microsoft.com/office/drawing/2014/main" val="184320867"/>
                  </a:ext>
                </a:extLst>
              </a:tr>
              <a:tr h="486663">
                <a:tc>
                  <a:txBody>
                    <a:bodyPr/>
                    <a:lstStyle/>
                    <a:p>
                      <a:pPr algn="ctr">
                        <a:buNone/>
                      </a:pPr>
                      <a:r>
                        <a:rPr lang="en-IN" sz="2400" dirty="0">
                          <a:latin typeface="Times New Roman" panose="02020603050405020304" pitchFamily="18" charset="0"/>
                          <a:cs typeface="Times New Roman" panose="02020603050405020304" pitchFamily="18" charset="0"/>
                        </a:rPr>
                        <a:t>7</a:t>
                      </a:r>
                    </a:p>
                  </a:txBody>
                  <a:tcPr marL="48666" marR="48666" marT="24333" marB="24333" anchor="ctr"/>
                </a:tc>
                <a:tc>
                  <a:txBody>
                    <a:bodyPr/>
                    <a:lstStyle/>
                    <a:p>
                      <a:pPr>
                        <a:buNone/>
                      </a:pPr>
                      <a:r>
                        <a:rPr lang="en-IN" sz="2400">
                          <a:latin typeface="Times New Roman" panose="02020603050405020304" pitchFamily="18" charset="0"/>
                          <a:cs typeface="Times New Roman" panose="02020603050405020304" pitchFamily="18" charset="0"/>
                        </a:rPr>
                        <a:t>ESP8266 Module</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IN" sz="2400" dirty="0">
                          <a:latin typeface="Times New Roman" panose="02020603050405020304" pitchFamily="18" charset="0"/>
                          <a:cs typeface="Times New Roman" panose="02020603050405020304" pitchFamily="18" charset="0"/>
                        </a:rPr>
                        <a:t>Wireless communication, receives data</a:t>
                      </a:r>
                    </a:p>
                  </a:txBody>
                  <a:tcPr marL="48666" marR="48666" marT="24333" marB="24333" anchor="ctr"/>
                </a:tc>
                <a:extLst>
                  <a:ext uri="{0D108BD9-81ED-4DB2-BD59-A6C34878D82A}">
                    <a16:rowId xmlns:a16="http://schemas.microsoft.com/office/drawing/2014/main" val="406043347"/>
                  </a:ext>
                </a:extLst>
              </a:tr>
              <a:tr h="486663">
                <a:tc>
                  <a:txBody>
                    <a:bodyPr/>
                    <a:lstStyle/>
                    <a:p>
                      <a:pPr algn="ctr">
                        <a:buNone/>
                      </a:pPr>
                      <a:r>
                        <a:rPr lang="en-IN" sz="2400" dirty="0">
                          <a:latin typeface="Times New Roman" panose="02020603050405020304" pitchFamily="18" charset="0"/>
                          <a:cs typeface="Times New Roman" panose="02020603050405020304" pitchFamily="18" charset="0"/>
                        </a:rPr>
                        <a:t>8</a:t>
                      </a:r>
                    </a:p>
                  </a:txBody>
                  <a:tcPr marL="48666" marR="48666" marT="24333" marB="24333" anchor="ctr"/>
                </a:tc>
                <a:tc>
                  <a:txBody>
                    <a:bodyPr/>
                    <a:lstStyle/>
                    <a:p>
                      <a:pPr>
                        <a:buNone/>
                      </a:pPr>
                      <a:r>
                        <a:rPr lang="en-IN" sz="2400">
                          <a:latin typeface="Times New Roman" panose="02020603050405020304" pitchFamily="18" charset="0"/>
                          <a:cs typeface="Times New Roman" panose="02020603050405020304" pitchFamily="18" charset="0"/>
                        </a:rPr>
                        <a:t>Power Supply Unit</a:t>
                      </a:r>
                    </a:p>
                  </a:txBody>
                  <a:tcPr marL="48666" marR="48666" marT="24333" marB="24333" anchor="ctr"/>
                </a:tc>
                <a:tc>
                  <a:txBody>
                    <a:bodyPr/>
                    <a:lstStyle/>
                    <a:p>
                      <a:pPr algn="ctr">
                        <a:buNone/>
                      </a:pPr>
                      <a:r>
                        <a:rPr lang="en-IN" sz="2400" dirty="0">
                          <a:latin typeface="Times New Roman" panose="02020603050405020304" pitchFamily="18" charset="0"/>
                          <a:cs typeface="Times New Roman" panose="02020603050405020304" pitchFamily="18" charset="0"/>
                        </a:rPr>
                        <a:t>1</a:t>
                      </a:r>
                    </a:p>
                  </a:txBody>
                  <a:tcPr marL="48666" marR="48666" marT="24333" marB="24333" anchor="ctr"/>
                </a:tc>
                <a:tc>
                  <a:txBody>
                    <a:bodyPr/>
                    <a:lstStyle/>
                    <a:p>
                      <a:pPr>
                        <a:buNone/>
                      </a:pPr>
                      <a:r>
                        <a:rPr lang="en-IN" sz="2400" dirty="0">
                          <a:latin typeface="Times New Roman" panose="02020603050405020304" pitchFamily="18" charset="0"/>
                          <a:cs typeface="Times New Roman" panose="02020603050405020304" pitchFamily="18" charset="0"/>
                        </a:rPr>
                        <a:t>Provides stable power for system operation</a:t>
                      </a:r>
                    </a:p>
                  </a:txBody>
                  <a:tcPr marL="48666" marR="48666" marT="24333" marB="24333" anchor="ctr"/>
                </a:tc>
                <a:extLst>
                  <a:ext uri="{0D108BD9-81ED-4DB2-BD59-A6C34878D82A}">
                    <a16:rowId xmlns:a16="http://schemas.microsoft.com/office/drawing/2014/main" val="365516094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35258" y="1535270"/>
            <a:ext cx="18287999" cy="8751729"/>
            <a:chOff x="1" y="-144737"/>
            <a:chExt cx="24384000" cy="11668972"/>
          </a:xfrm>
        </p:grpSpPr>
        <p:sp>
          <p:nvSpPr>
            <p:cNvPr id="3" name="Freeform 3"/>
            <p:cNvSpPr/>
            <p:nvPr/>
          </p:nvSpPr>
          <p:spPr>
            <a:xfrm>
              <a:off x="1" y="-144737"/>
              <a:ext cx="24384000" cy="11668972"/>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4" name="Group 4"/>
          <p:cNvGrpSpPr/>
          <p:nvPr/>
        </p:nvGrpSpPr>
        <p:grpSpPr>
          <a:xfrm>
            <a:off x="17047082" y="9391246"/>
            <a:ext cx="1097400" cy="787200"/>
            <a:chOff x="0" y="0"/>
            <a:chExt cx="1463200" cy="1049600"/>
          </a:xfrm>
        </p:grpSpPr>
        <p:sp>
          <p:nvSpPr>
            <p:cNvPr id="5" name="Freeform 5"/>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6" name="TextBox 6"/>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Times New Roman"/>
                  <a:ea typeface="Times New Roman"/>
                  <a:cs typeface="Times New Roman"/>
                  <a:sym typeface="Times New Roman"/>
                </a:rPr>
                <a:t>10</a:t>
              </a:r>
            </a:p>
          </p:txBody>
        </p:sp>
      </p:grpSp>
      <p:sp>
        <p:nvSpPr>
          <p:cNvPr id="7" name="TextBox 7"/>
          <p:cNvSpPr txBox="1"/>
          <p:nvPr/>
        </p:nvSpPr>
        <p:spPr>
          <a:xfrm>
            <a:off x="331605" y="329632"/>
            <a:ext cx="7268550" cy="993100"/>
          </a:xfrm>
          <a:prstGeom prst="rect">
            <a:avLst/>
          </a:prstGeom>
        </p:spPr>
        <p:txBody>
          <a:bodyPr lIns="0" tIns="0" rIns="0" bIns="0" rtlCol="0" anchor="t">
            <a:spAutoFit/>
          </a:bodyPr>
          <a:lstStyle/>
          <a:p>
            <a:pPr algn="l">
              <a:lnSpc>
                <a:spcPts val="6719"/>
              </a:lnSpc>
            </a:pPr>
            <a:r>
              <a:rPr lang="en-US" sz="5599" b="1">
                <a:solidFill>
                  <a:srgbClr val="000000"/>
                </a:solidFill>
                <a:latin typeface="Times New Roman Bold"/>
                <a:ea typeface="Times New Roman Bold"/>
                <a:cs typeface="Times New Roman Bold"/>
                <a:sym typeface="Times New Roman Bold"/>
              </a:rPr>
              <a:t>Methodology</a:t>
            </a:r>
          </a:p>
        </p:txBody>
      </p:sp>
      <p:sp>
        <p:nvSpPr>
          <p:cNvPr id="13" name="TextBox 12">
            <a:extLst>
              <a:ext uri="{FF2B5EF4-FFF2-40B4-BE49-F238E27FC236}">
                <a16:creationId xmlns:a16="http://schemas.microsoft.com/office/drawing/2014/main" id="{FB1C9C2E-6E65-EA4A-97FE-D7AE56EA0342}"/>
              </a:ext>
            </a:extLst>
          </p:cNvPr>
          <p:cNvSpPr txBox="1"/>
          <p:nvPr/>
        </p:nvSpPr>
        <p:spPr>
          <a:xfrm>
            <a:off x="10591800" y="2171700"/>
            <a:ext cx="5334000" cy="440120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Dashboard Development</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Real-time radar animation</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Map visualization (Leaflet)</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Logs console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Connection panel</a:t>
            </a:r>
          </a:p>
          <a:p>
            <a:pPr marL="457200" indent="-457200" algn="just">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Testing and Analysis</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Real-time scanning</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Object detection validation</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GPS accuracy check</a:t>
            </a:r>
          </a:p>
        </p:txBody>
      </p:sp>
      <p:sp>
        <p:nvSpPr>
          <p:cNvPr id="9" name="Rectangle 1">
            <a:extLst>
              <a:ext uri="{FF2B5EF4-FFF2-40B4-BE49-F238E27FC236}">
                <a16:creationId xmlns:a16="http://schemas.microsoft.com/office/drawing/2014/main" id="{9E29C2D6-F887-90AE-E558-70D2021F4CBB}"/>
              </a:ext>
            </a:extLst>
          </p:cNvPr>
          <p:cNvSpPr>
            <a:spLocks noChangeArrowheads="1"/>
          </p:cNvSpPr>
          <p:nvPr/>
        </p:nvSpPr>
        <p:spPr bwMode="auto">
          <a:xfrm>
            <a:off x="990600" y="1972663"/>
            <a:ext cx="9067800" cy="4970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Integration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starts with initialization of ESP32 and all sensors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Ultrasonic sensor with servo performs radar-style scanning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 detection triggers ESP32-CAM to capture images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GPS module provides location of detected events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is processed locally on ESP32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ESP-NOW used for communication between nodes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is sent to WebSocket dashboard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a:extLst>
            <a:ext uri="{FF2B5EF4-FFF2-40B4-BE49-F238E27FC236}">
              <a16:creationId xmlns:a16="http://schemas.microsoft.com/office/drawing/2014/main" id="{11EC8DDD-6C51-549A-AC56-D3758A1B5CB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9E7BEC2-2F34-F3C0-23BA-5C16FEBA1672}"/>
              </a:ext>
            </a:extLst>
          </p:cNvPr>
          <p:cNvGrpSpPr/>
          <p:nvPr/>
        </p:nvGrpSpPr>
        <p:grpSpPr>
          <a:xfrm rot="-10800000">
            <a:off x="0" y="1650011"/>
            <a:ext cx="18288000" cy="8643134"/>
            <a:chOff x="0" y="0"/>
            <a:chExt cx="24384000" cy="11524179"/>
          </a:xfrm>
        </p:grpSpPr>
        <p:sp>
          <p:nvSpPr>
            <p:cNvPr id="3" name="Freeform 3">
              <a:extLst>
                <a:ext uri="{FF2B5EF4-FFF2-40B4-BE49-F238E27FC236}">
                  <a16:creationId xmlns:a16="http://schemas.microsoft.com/office/drawing/2014/main" id="{9314C6AE-7B36-946E-8FED-4D85BC2EF30F}"/>
                </a:ext>
              </a:extLst>
            </p:cNvPr>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4" name="Group 4">
            <a:extLst>
              <a:ext uri="{FF2B5EF4-FFF2-40B4-BE49-F238E27FC236}">
                <a16:creationId xmlns:a16="http://schemas.microsoft.com/office/drawing/2014/main" id="{D7F9768F-C6B7-CCE3-B284-B11B50BEEBE3}"/>
              </a:ext>
            </a:extLst>
          </p:cNvPr>
          <p:cNvGrpSpPr/>
          <p:nvPr/>
        </p:nvGrpSpPr>
        <p:grpSpPr>
          <a:xfrm>
            <a:off x="17047082" y="9391246"/>
            <a:ext cx="1097400" cy="787200"/>
            <a:chOff x="0" y="0"/>
            <a:chExt cx="1463200" cy="1049600"/>
          </a:xfrm>
        </p:grpSpPr>
        <p:sp>
          <p:nvSpPr>
            <p:cNvPr id="5" name="Freeform 5">
              <a:extLst>
                <a:ext uri="{FF2B5EF4-FFF2-40B4-BE49-F238E27FC236}">
                  <a16:creationId xmlns:a16="http://schemas.microsoft.com/office/drawing/2014/main" id="{1721F281-FCAC-F9C1-560C-A6380CC434DE}"/>
                </a:ext>
              </a:extLst>
            </p:cNvPr>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6" name="TextBox 6">
              <a:extLst>
                <a:ext uri="{FF2B5EF4-FFF2-40B4-BE49-F238E27FC236}">
                  <a16:creationId xmlns:a16="http://schemas.microsoft.com/office/drawing/2014/main" id="{796AEF5B-3747-7407-BABB-4C81EC31E2D7}"/>
                </a:ext>
              </a:extLst>
            </p:cNvPr>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Times New Roman"/>
                  <a:ea typeface="Times New Roman"/>
                  <a:cs typeface="Times New Roman"/>
                  <a:sym typeface="Times New Roman"/>
                </a:rPr>
                <a:t>11</a:t>
              </a:r>
            </a:p>
          </p:txBody>
        </p:sp>
      </p:grpSp>
      <p:sp>
        <p:nvSpPr>
          <p:cNvPr id="7" name="TextBox 7">
            <a:extLst>
              <a:ext uri="{FF2B5EF4-FFF2-40B4-BE49-F238E27FC236}">
                <a16:creationId xmlns:a16="http://schemas.microsoft.com/office/drawing/2014/main" id="{B7A1899E-CC1F-6E06-0875-5BFEB6906732}"/>
              </a:ext>
            </a:extLst>
          </p:cNvPr>
          <p:cNvSpPr txBox="1"/>
          <p:nvPr/>
        </p:nvSpPr>
        <p:spPr>
          <a:xfrm>
            <a:off x="331605" y="329632"/>
            <a:ext cx="7268550" cy="993100"/>
          </a:xfrm>
          <a:prstGeom prst="rect">
            <a:avLst/>
          </a:prstGeom>
        </p:spPr>
        <p:txBody>
          <a:bodyPr lIns="0" tIns="0" rIns="0" bIns="0" rtlCol="0" anchor="t">
            <a:spAutoFit/>
          </a:bodyPr>
          <a:lstStyle/>
          <a:p>
            <a:pPr algn="l">
              <a:lnSpc>
                <a:spcPts val="6719"/>
              </a:lnSpc>
            </a:pPr>
            <a:r>
              <a:rPr lang="en-US" sz="5599" b="1">
                <a:solidFill>
                  <a:srgbClr val="000000"/>
                </a:solidFill>
                <a:latin typeface="Times New Roman Bold"/>
                <a:ea typeface="Times New Roman Bold"/>
                <a:cs typeface="Times New Roman Bold"/>
                <a:sym typeface="Times New Roman Bold"/>
              </a:rPr>
              <a:t>Methodology</a:t>
            </a:r>
          </a:p>
        </p:txBody>
      </p:sp>
      <p:pic>
        <p:nvPicPr>
          <p:cNvPr id="9" name="Picture 8">
            <a:extLst>
              <a:ext uri="{FF2B5EF4-FFF2-40B4-BE49-F238E27FC236}">
                <a16:creationId xmlns:a16="http://schemas.microsoft.com/office/drawing/2014/main" id="{2EA88FC5-21FC-F96B-151D-EFE6B70C23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1790700"/>
            <a:ext cx="9982200" cy="8387746"/>
          </a:xfrm>
          <a:prstGeom prst="rect">
            <a:avLst/>
          </a:prstGeom>
        </p:spPr>
      </p:pic>
    </p:spTree>
    <p:extLst>
      <p:ext uri="{BB962C8B-B14F-4D97-AF65-F5344CB8AC3E}">
        <p14:creationId xmlns:p14="http://schemas.microsoft.com/office/powerpoint/2010/main" val="3124456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 y="1535268"/>
            <a:ext cx="18287999" cy="8751729"/>
            <a:chOff x="1" y="-144736"/>
            <a:chExt cx="23625513" cy="11668972"/>
          </a:xfrm>
        </p:grpSpPr>
        <p:sp>
          <p:nvSpPr>
            <p:cNvPr id="3" name="Freeform 3"/>
            <p:cNvSpPr/>
            <p:nvPr/>
          </p:nvSpPr>
          <p:spPr>
            <a:xfrm>
              <a:off x="1" y="-144736"/>
              <a:ext cx="23625513" cy="11668972"/>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noFill/>
            </a:ln>
          </p:spPr>
        </p:sp>
      </p:grpSp>
      <p:grpSp>
        <p:nvGrpSpPr>
          <p:cNvPr id="5" name="Group 5"/>
          <p:cNvGrpSpPr/>
          <p:nvPr/>
        </p:nvGrpSpPr>
        <p:grpSpPr>
          <a:xfrm>
            <a:off x="17047082" y="9391246"/>
            <a:ext cx="1097400" cy="787200"/>
            <a:chOff x="0" y="0"/>
            <a:chExt cx="1463200" cy="1049600"/>
          </a:xfrm>
        </p:grpSpPr>
        <p:sp>
          <p:nvSpPr>
            <p:cNvPr id="6" name="Freeform 6"/>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7" name="TextBox 7"/>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Roboto"/>
                  <a:ea typeface="Roboto"/>
                  <a:cs typeface="Roboto"/>
                  <a:sym typeface="Roboto"/>
                </a:rPr>
                <a:t>12</a:t>
              </a:r>
            </a:p>
          </p:txBody>
        </p:sp>
      </p:grpSp>
      <p:sp>
        <p:nvSpPr>
          <p:cNvPr id="8" name="TextBox 8"/>
          <p:cNvSpPr txBox="1"/>
          <p:nvPr/>
        </p:nvSpPr>
        <p:spPr>
          <a:xfrm>
            <a:off x="568865" y="285564"/>
            <a:ext cx="8691866" cy="993060"/>
          </a:xfrm>
          <a:prstGeom prst="rect">
            <a:avLst/>
          </a:prstGeom>
        </p:spPr>
        <p:txBody>
          <a:bodyPr lIns="0" tIns="0" rIns="0" bIns="0" rtlCol="0" anchor="t">
            <a:spAutoFit/>
          </a:bodyPr>
          <a:lstStyle/>
          <a:p>
            <a:pPr algn="l">
              <a:lnSpc>
                <a:spcPts val="6719"/>
              </a:lnSpc>
            </a:pPr>
            <a:r>
              <a:rPr lang="en-US" sz="5599" b="1">
                <a:solidFill>
                  <a:srgbClr val="000000"/>
                </a:solidFill>
                <a:latin typeface="Times New Roman Bold"/>
                <a:ea typeface="Times New Roman Bold"/>
                <a:cs typeface="Times New Roman Bold"/>
                <a:sym typeface="Times New Roman Bold"/>
              </a:rPr>
              <a:t>Results and Discussion</a:t>
            </a:r>
          </a:p>
        </p:txBody>
      </p:sp>
      <p:sp>
        <p:nvSpPr>
          <p:cNvPr id="10" name="Rectangle 3">
            <a:extLst>
              <a:ext uri="{FF2B5EF4-FFF2-40B4-BE49-F238E27FC236}">
                <a16:creationId xmlns:a16="http://schemas.microsoft.com/office/drawing/2014/main" id="{56B37AAC-3D2B-1078-020F-DF6E1C700DA7}"/>
              </a:ext>
            </a:extLst>
          </p:cNvPr>
          <p:cNvSpPr>
            <a:spLocks noChangeArrowheads="1"/>
          </p:cNvSpPr>
          <p:nvPr/>
        </p:nvSpPr>
        <p:spPr bwMode="auto">
          <a:xfrm>
            <a:off x="838200" y="2268260"/>
            <a:ext cx="13274788"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was able to detect objects and monitor the area continuously without issues.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readings and camera capture worked properly during 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between nodes was fast and data was displayed clearly on the dashboard.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Multi-frame checking helped reduce false alarms and improved overall reliability. </a:t>
            </a:r>
          </a:p>
        </p:txBody>
      </p:sp>
      <p:sp>
        <p:nvSpPr>
          <p:cNvPr id="12" name="TextBox 11">
            <a:extLst>
              <a:ext uri="{FF2B5EF4-FFF2-40B4-BE49-F238E27FC236}">
                <a16:creationId xmlns:a16="http://schemas.microsoft.com/office/drawing/2014/main" id="{AD9E83D8-187D-5953-2C0A-3C47BF83B16B}"/>
              </a:ext>
            </a:extLst>
          </p:cNvPr>
          <p:cNvSpPr txBox="1"/>
          <p:nvPr/>
        </p:nvSpPr>
        <p:spPr>
          <a:xfrm>
            <a:off x="990600" y="4882036"/>
            <a:ext cx="12268200" cy="2246769"/>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Overall, the system showed stable performance during testing and was able to handle real-time monitoring effectively. All components worked together smoothly, and the integration of sensors, communication, and dashboard provided clear and timely information. The proposed system is reliable for basic surveillance and can be improved further in the next phase.</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43866"/>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txBody>
            <a:bodyPr/>
            <a:lstStyle/>
            <a:p>
              <a:endParaRPr lang="en-US" dirty="0"/>
            </a:p>
          </p:txBody>
        </p:sp>
      </p:grpSp>
      <p:sp>
        <p:nvSpPr>
          <p:cNvPr id="4" name="TextBox 4"/>
          <p:cNvSpPr txBox="1"/>
          <p:nvPr/>
        </p:nvSpPr>
        <p:spPr>
          <a:xfrm>
            <a:off x="990599" y="1874931"/>
            <a:ext cx="16306801" cy="4337213"/>
          </a:xfrm>
          <a:prstGeom prst="rect">
            <a:avLst/>
          </a:prstGeom>
        </p:spPr>
        <p:txBody>
          <a:bodyPr wrap="square" lIns="0" tIns="0" rIns="0" bIns="0" rtlCol="0" anchor="t">
            <a:spAutoFit/>
          </a:bodyPr>
          <a:lstStyle/>
          <a:p>
            <a:r>
              <a:rPr lang="en-US" sz="2800" dirty="0">
                <a:latin typeface="Times New Roman" panose="02020603050405020304" pitchFamily="18" charset="0"/>
                <a:cs typeface="Times New Roman" panose="02020603050405020304" pitchFamily="18" charset="0"/>
              </a:rPr>
              <a:t>Our Project demonstrates a practical and low-cost model for intelligent border surveillance</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Key achievements: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Functional multi-sensor surveillance platform</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WebSocket-based real-time monitoring</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Radar and Object detection</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Environmental monitoring</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GPS tracking</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Wireless communication using ESP-NOW</a:t>
            </a:r>
          </a:p>
          <a:p>
            <a:pPr marL="955040" lvl="1" indent="-477520" algn="just">
              <a:lnSpc>
                <a:spcPts val="3863"/>
              </a:lnSpc>
              <a:buFont typeface="Arial"/>
              <a:buChar char="•"/>
            </a:pPr>
            <a:endParaRPr lang="en-US" sz="2800" dirty="0">
              <a:solidFill>
                <a:srgbClr val="424242"/>
              </a:solidFill>
              <a:latin typeface="Times New Roman" panose="02020603050405020304" pitchFamily="18" charset="0"/>
              <a:ea typeface="Roboto"/>
              <a:cs typeface="Times New Roman" panose="02020603050405020304" pitchFamily="18" charset="0"/>
              <a:sym typeface="Roboto"/>
            </a:endParaRPr>
          </a:p>
        </p:txBody>
      </p:sp>
      <p:grpSp>
        <p:nvGrpSpPr>
          <p:cNvPr id="5" name="Group 5"/>
          <p:cNvGrpSpPr/>
          <p:nvPr/>
        </p:nvGrpSpPr>
        <p:grpSpPr>
          <a:xfrm>
            <a:off x="17047082" y="9391246"/>
            <a:ext cx="1097400" cy="787200"/>
            <a:chOff x="0" y="0"/>
            <a:chExt cx="1463200" cy="1049600"/>
          </a:xfrm>
        </p:grpSpPr>
        <p:sp>
          <p:nvSpPr>
            <p:cNvPr id="6" name="Freeform 6"/>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7" name="TextBox 7"/>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Roboto"/>
                  <a:ea typeface="Roboto"/>
                  <a:cs typeface="Roboto"/>
                  <a:sym typeface="Roboto"/>
                </a:rPr>
                <a:t>14</a:t>
              </a:r>
            </a:p>
          </p:txBody>
        </p:sp>
      </p:grpSp>
      <p:sp>
        <p:nvSpPr>
          <p:cNvPr id="8" name="TextBox 8"/>
          <p:cNvSpPr txBox="1"/>
          <p:nvPr/>
        </p:nvSpPr>
        <p:spPr>
          <a:xfrm>
            <a:off x="581207" y="299274"/>
            <a:ext cx="3620116" cy="993140"/>
          </a:xfrm>
          <a:prstGeom prst="rect">
            <a:avLst/>
          </a:prstGeom>
        </p:spPr>
        <p:txBody>
          <a:bodyPr lIns="0" tIns="0" rIns="0" bIns="0" rtlCol="0" anchor="t">
            <a:spAutoFit/>
          </a:bodyPr>
          <a:lstStyle/>
          <a:p>
            <a:pPr algn="l">
              <a:lnSpc>
                <a:spcPts val="6719"/>
              </a:lnSpc>
            </a:pPr>
            <a:r>
              <a:rPr lang="en-US" sz="5599" b="1" dirty="0">
                <a:solidFill>
                  <a:srgbClr val="000000"/>
                </a:solidFill>
                <a:latin typeface="Times New Roman Bold"/>
                <a:ea typeface="Times New Roman Bold"/>
                <a:cs typeface="Times New Roman Bold"/>
                <a:sym typeface="Times New Roman Bold"/>
              </a:rPr>
              <a:t>Conclusion</a:t>
            </a:r>
          </a:p>
        </p:txBody>
      </p:sp>
      <p:sp>
        <p:nvSpPr>
          <p:cNvPr id="10" name="TextBox 9">
            <a:extLst>
              <a:ext uri="{FF2B5EF4-FFF2-40B4-BE49-F238E27FC236}">
                <a16:creationId xmlns:a16="http://schemas.microsoft.com/office/drawing/2014/main" id="{1454F14A-04FE-1BBF-A927-3F43E9B5FFF8}"/>
              </a:ext>
            </a:extLst>
          </p:cNvPr>
          <p:cNvSpPr txBox="1"/>
          <p:nvPr/>
        </p:nvSpPr>
        <p:spPr>
          <a:xfrm>
            <a:off x="990599" y="5965413"/>
            <a:ext cx="14944206" cy="3108543"/>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The Phase 1 of this project was successfully completed, where a basic real-time surveillance system was developed and tested. The system was able to detect objects, capture images, and send data properly using the embedded components. All the sensors, communication modules, and dashboard worked together smoothly, making it easy to monitor the system performance. Processing the data locally helped in faster response, and checking multiple frames reduced false alarms. Overall, the system is simple, cost-effective, and provides a good base for improving and expanding the project in the next phase.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43866"/>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4" name="Group 4"/>
          <p:cNvGrpSpPr/>
          <p:nvPr/>
        </p:nvGrpSpPr>
        <p:grpSpPr>
          <a:xfrm>
            <a:off x="943800" y="1477450"/>
            <a:ext cx="16444200" cy="1535400"/>
            <a:chOff x="0" y="0"/>
            <a:chExt cx="21925600" cy="2047200"/>
          </a:xfrm>
        </p:grpSpPr>
        <p:sp>
          <p:nvSpPr>
            <p:cNvPr id="5" name="Freeform 5"/>
            <p:cNvSpPr/>
            <p:nvPr/>
          </p:nvSpPr>
          <p:spPr>
            <a:xfrm>
              <a:off x="0" y="0"/>
              <a:ext cx="21925600" cy="2047200"/>
            </a:xfrm>
            <a:custGeom>
              <a:avLst/>
              <a:gdLst/>
              <a:ahLst/>
              <a:cxnLst/>
              <a:rect l="l" t="t" r="r" b="b"/>
              <a:pathLst>
                <a:path w="21925600" h="2047200">
                  <a:moveTo>
                    <a:pt x="0" y="0"/>
                  </a:moveTo>
                  <a:lnTo>
                    <a:pt x="21925600" y="0"/>
                  </a:lnTo>
                  <a:lnTo>
                    <a:pt x="21925600" y="2047200"/>
                  </a:lnTo>
                  <a:lnTo>
                    <a:pt x="0" y="2047200"/>
                  </a:lnTo>
                  <a:close/>
                </a:path>
              </a:pathLst>
            </a:custGeom>
            <a:solidFill>
              <a:srgbClr val="000000">
                <a:alpha val="0"/>
              </a:srgbClr>
            </a:solidFill>
          </p:spPr>
        </p:sp>
        <p:sp>
          <p:nvSpPr>
            <p:cNvPr id="6" name="TextBox 6"/>
            <p:cNvSpPr txBox="1"/>
            <p:nvPr/>
          </p:nvSpPr>
          <p:spPr>
            <a:xfrm>
              <a:off x="0" y="-28575"/>
              <a:ext cx="21925600" cy="2075775"/>
            </a:xfrm>
            <a:prstGeom prst="rect">
              <a:avLst/>
            </a:prstGeom>
          </p:spPr>
          <p:txBody>
            <a:bodyPr lIns="0" tIns="0" rIns="0" bIns="0" rtlCol="0" anchor="b"/>
            <a:lstStyle/>
            <a:p>
              <a:pPr algn="l">
                <a:lnSpc>
                  <a:spcPts val="7680"/>
                </a:lnSpc>
              </a:pPr>
              <a:r>
                <a:rPr lang="en-US" sz="6400">
                  <a:solidFill>
                    <a:srgbClr val="FFFFFF"/>
                  </a:solidFill>
                  <a:latin typeface="Times New Roman"/>
                  <a:ea typeface="Times New Roman"/>
                  <a:cs typeface="Times New Roman"/>
                  <a:sym typeface="Times New Roman"/>
                </a:rPr>
                <a:t>Literature Survey</a:t>
              </a:r>
            </a:p>
          </p:txBody>
        </p:sp>
      </p:grpSp>
      <p:graphicFrame>
        <p:nvGraphicFramePr>
          <p:cNvPr id="7" name="Table 7"/>
          <p:cNvGraphicFramePr>
            <a:graphicFrameLocks noGrp="1"/>
          </p:cNvGraphicFramePr>
          <p:nvPr>
            <p:extLst>
              <p:ext uri="{D42A27DB-BD31-4B8C-83A1-F6EECF244321}">
                <p14:modId xmlns:p14="http://schemas.microsoft.com/office/powerpoint/2010/main" val="4245113125"/>
              </p:ext>
            </p:extLst>
          </p:nvPr>
        </p:nvGraphicFramePr>
        <p:xfrm>
          <a:off x="746550" y="1736678"/>
          <a:ext cx="16763999" cy="8131222"/>
        </p:xfrm>
        <a:graphic>
          <a:graphicData uri="http://schemas.openxmlformats.org/drawingml/2006/table">
            <a:tbl>
              <a:tblPr/>
              <a:tblGrid>
                <a:gridCol w="3774618">
                  <a:extLst>
                    <a:ext uri="{9D8B030D-6E8A-4147-A177-3AD203B41FA5}">
                      <a16:colId xmlns:a16="http://schemas.microsoft.com/office/drawing/2014/main" val="20000"/>
                    </a:ext>
                  </a:extLst>
                </a:gridCol>
                <a:gridCol w="6771043">
                  <a:extLst>
                    <a:ext uri="{9D8B030D-6E8A-4147-A177-3AD203B41FA5}">
                      <a16:colId xmlns:a16="http://schemas.microsoft.com/office/drawing/2014/main" val="20001"/>
                    </a:ext>
                  </a:extLst>
                </a:gridCol>
                <a:gridCol w="6218338">
                  <a:extLst>
                    <a:ext uri="{9D8B030D-6E8A-4147-A177-3AD203B41FA5}">
                      <a16:colId xmlns:a16="http://schemas.microsoft.com/office/drawing/2014/main" val="20002"/>
                    </a:ext>
                  </a:extLst>
                </a:gridCol>
              </a:tblGrid>
              <a:tr h="1228027">
                <a:tc>
                  <a:txBody>
                    <a:bodyPr/>
                    <a:lstStyle/>
                    <a:p>
                      <a:pPr algn="ctr">
                        <a:lnSpc>
                          <a:spcPts val="3840"/>
                        </a:lnSpc>
                        <a:defRPr/>
                      </a:pPr>
                      <a:r>
                        <a:rPr lang="en-US" sz="3200" b="1">
                          <a:solidFill>
                            <a:srgbClr val="000000"/>
                          </a:solidFill>
                          <a:latin typeface="Times New Roman Bold"/>
                          <a:ea typeface="Times New Roman Bold"/>
                          <a:cs typeface="Times New Roman Bold"/>
                          <a:sym typeface="Times New Roman Bold"/>
                        </a:rPr>
                        <a:t>Paper Title</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0" indent="0" algn="ctr">
                        <a:lnSpc>
                          <a:spcPts val="3840"/>
                        </a:lnSpc>
                        <a:buFont typeface="Arial" panose="020B0604020202020204" pitchFamily="34" charset="0"/>
                        <a:buNone/>
                        <a:defRPr/>
                      </a:pPr>
                      <a:r>
                        <a:rPr lang="en-US" sz="3200" b="1" dirty="0">
                          <a:solidFill>
                            <a:srgbClr val="000000"/>
                          </a:solidFill>
                          <a:latin typeface="Times New Roman Bold"/>
                          <a:ea typeface="Times New Roman Bold"/>
                          <a:cs typeface="Times New Roman Bold"/>
                          <a:sym typeface="Times New Roman Bold"/>
                        </a:rPr>
                        <a:t>Methodology Adopted</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Remarks/Conclusions</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40046">
                <a:tc>
                  <a:txBody>
                    <a:bodyPr/>
                    <a:lstStyle/>
                    <a:p>
                      <a:pPr algn="ctr">
                        <a:lnSpc>
                          <a:spcPts val="3840"/>
                        </a:lnSpc>
                        <a:defRPr/>
                      </a:pPr>
                      <a:r>
                        <a:rPr lang="en-US" sz="3200" dirty="0">
                          <a:solidFill>
                            <a:srgbClr val="222222"/>
                          </a:solidFill>
                          <a:latin typeface="Times New Roman" panose="02020603050405020304" pitchFamily="18" charset="0"/>
                          <a:ea typeface="Arial"/>
                          <a:cs typeface="Times New Roman" panose="02020603050405020304" pitchFamily="18" charset="0"/>
                          <a:sym typeface="Arial"/>
                        </a:rPr>
                        <a:t>Malathy et al</a:t>
                      </a:r>
                      <a:r>
                        <a:rPr lang="en-US" sz="3200" dirty="0">
                          <a:solidFill>
                            <a:srgbClr val="000000"/>
                          </a:solidFill>
                          <a:latin typeface="Times New Roman" panose="02020603050405020304" pitchFamily="18" charset="0"/>
                          <a:ea typeface="Arial"/>
                          <a:cs typeface="Times New Roman" panose="02020603050405020304" pitchFamily="18" charset="0"/>
                          <a:sym typeface="Arial"/>
                        </a:rPr>
                        <a:t> [1] </a:t>
                      </a:r>
                      <a:endParaRPr lang="en-US" sz="1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632460" lvl="1" indent="-342900" algn="l">
                        <a:lnSpc>
                          <a:spcPts val="2879"/>
                        </a:lnSpc>
                        <a:buFont typeface="Arial" panose="020B0604020202020204" pitchFamily="34" charset="0"/>
                        <a:buChar char="•"/>
                        <a:defRPr/>
                      </a:pPr>
                      <a:r>
                        <a:rPr lang="en-US" sz="2400" b="0" i="0" kern="1200" dirty="0">
                          <a:solidFill>
                            <a:schemeClr val="tx1"/>
                          </a:solidFill>
                          <a:effectLst/>
                          <a:latin typeface="Times New Roman" panose="02020603050405020304" pitchFamily="18" charset="0"/>
                          <a:ea typeface="+mn-ea"/>
                          <a:cs typeface="Times New Roman" panose="02020603050405020304" pitchFamily="18" charset="0"/>
                        </a:rPr>
                        <a:t> It aims to study the use of WSN in border monitoring, with particular emphasis on methods for clustering to potentially save energy at the sensor nodes.</a:t>
                      </a:r>
                    </a:p>
                    <a:p>
                      <a:pPr marL="632460" lvl="1" indent="-342900" algn="l">
                        <a:lnSpc>
                          <a:spcPts val="2879"/>
                        </a:lnSpc>
                        <a:buFont typeface="Arial" panose="020B0604020202020204" pitchFamily="34" charset="0"/>
                        <a:buChar char="•"/>
                        <a:defRPr/>
                      </a:pPr>
                      <a:r>
                        <a:rPr lang="en-US" sz="2400" b="0" i="0" kern="1200" dirty="0">
                          <a:solidFill>
                            <a:schemeClr val="tx1"/>
                          </a:solidFill>
                          <a:effectLst/>
                          <a:latin typeface="Times New Roman" panose="02020603050405020304" pitchFamily="18" charset="0"/>
                          <a:ea typeface="+mn-ea"/>
                          <a:cs typeface="Times New Roman" panose="02020603050405020304" pitchFamily="18" charset="0"/>
                        </a:rPr>
                        <a:t>Viewed how Elliptic Curve Cryptography (ECC) allows for secure communication, letting only the legitimate user access information on border surveillance.</a:t>
                      </a:r>
                      <a:endParaRPr lang="en-US" sz="2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579120" lvl="1" indent="-289560" algn="l">
                        <a:lnSpc>
                          <a:spcPts val="2879"/>
                        </a:lnSpc>
                        <a:buFont typeface="Arial"/>
                        <a:buChar char="•"/>
                        <a:defRPr/>
                      </a:pPr>
                      <a:r>
                        <a:rPr lang="en-US" sz="2400" dirty="0">
                          <a:solidFill>
                            <a:srgbClr val="000000"/>
                          </a:solidFill>
                          <a:latin typeface="Times New Roman"/>
                          <a:ea typeface="Times New Roman"/>
                          <a:cs typeface="Times New Roman"/>
                          <a:sym typeface="Times New Roman"/>
                        </a:rPr>
                        <a:t>This paper demonstrates that clustering combined with ACO significantly enhances energy efficiency and, hence prolongs the sensor network lifetime in border surveillance scenarios.</a:t>
                      </a:r>
                    </a:p>
                    <a:p>
                      <a:pPr marL="579120" lvl="1" indent="-289560" algn="l">
                        <a:lnSpc>
                          <a:spcPts val="2879"/>
                        </a:lnSpc>
                        <a:buFont typeface="Arial"/>
                        <a:buChar char="•"/>
                        <a:defRPr/>
                      </a:pPr>
                      <a:r>
                        <a:rPr lang="en-US" sz="2400" dirty="0">
                          <a:solidFill>
                            <a:srgbClr val="000000"/>
                          </a:solidFill>
                          <a:latin typeface="Times New Roman"/>
                          <a:ea typeface="Times New Roman"/>
                          <a:cs typeface="Times New Roman"/>
                          <a:sym typeface="Times New Roman"/>
                        </a:rPr>
                        <a:t>Overall, this approach improves the network lifetime, packet delivery, and throughput; thus, it acts as a very strong reference model for building secure and efficient border monitoring systems..</a:t>
                      </a: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63149">
                <a:tc>
                  <a:txBody>
                    <a:bodyPr/>
                    <a:lstStyle/>
                    <a:p>
                      <a:pPr algn="l">
                        <a:lnSpc>
                          <a:spcPts val="3840"/>
                        </a:lnSpc>
                        <a:defRPr/>
                      </a:pPr>
                      <a:endParaRPr lang="en-US" sz="1100" dirty="0"/>
                    </a:p>
                    <a:p>
                      <a:pPr algn="ctr">
                        <a:lnSpc>
                          <a:spcPts val="3840"/>
                        </a:lnSpc>
                      </a:pPr>
                      <a:r>
                        <a:rPr lang="en-US" sz="3200" dirty="0" err="1">
                          <a:solidFill>
                            <a:srgbClr val="000000"/>
                          </a:solidFill>
                          <a:latin typeface="Times New Roman" panose="02020603050405020304" pitchFamily="18" charset="0"/>
                          <a:ea typeface="Arial"/>
                          <a:cs typeface="Times New Roman" panose="02020603050405020304" pitchFamily="18" charset="0"/>
                          <a:sym typeface="Arial"/>
                        </a:rPr>
                        <a:t>Essendorfer</a:t>
                      </a:r>
                      <a:r>
                        <a:rPr lang="en-US" sz="3200" dirty="0">
                          <a:solidFill>
                            <a:srgbClr val="000000"/>
                          </a:solidFill>
                          <a:latin typeface="Times New Roman" panose="02020603050405020304" pitchFamily="18" charset="0"/>
                          <a:ea typeface="Arial"/>
                          <a:cs typeface="Times New Roman" panose="02020603050405020304" pitchFamily="18" charset="0"/>
                          <a:sym typeface="Arial"/>
                        </a:rPr>
                        <a:t> et al [2] </a:t>
                      </a:r>
                    </a:p>
                    <a:p>
                      <a:pPr algn="l">
                        <a:lnSpc>
                          <a:spcPts val="3840"/>
                        </a:lnSpc>
                      </a:pPr>
                      <a:endParaRPr lang="en-US" sz="3200" dirty="0">
                        <a:solidFill>
                          <a:srgbClr val="000000"/>
                        </a:solidFill>
                        <a:latin typeface="Arial"/>
                        <a:ea typeface="Arial"/>
                        <a:cs typeface="Arial"/>
                        <a:sym typeface="Arial"/>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Studied how data from different sensors (radar, sonar, IR, video) can be converted into a common format for smooth sharing and integration.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Understood how automated data fusion combines multi-sensor inputs to reduce operator workload and improve real-time monitoring.</a:t>
                      </a:r>
                      <a:endParaRPr lang="en-US" sz="24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79120" lvl="1" indent="-289560" algn="l">
                        <a:lnSpc>
                          <a:spcPts val="2879"/>
                        </a:lnSpc>
                      </a:pPr>
                      <a:endParaRPr lang="en-US" sz="2400" dirty="0">
                        <a:solidFill>
                          <a:srgbClr val="000000"/>
                        </a:solidFill>
                        <a:latin typeface="Times New Roman"/>
                        <a:ea typeface="Times New Roman"/>
                        <a:cs typeface="Times New Roman"/>
                        <a:sym typeface="Times New Roman"/>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integrated multi-sensor approach provides a clearer and more accurate operational picture for border security.</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Standardized data sharing helps authorities respond faster and improves overall surveillance effectiveness</a:t>
                      </a:r>
                      <a:r>
                        <a:rPr lang="en-US" dirty="0">
                          <a:latin typeface="Times New Roman" panose="02020603050405020304" pitchFamily="18" charset="0"/>
                          <a:cs typeface="Times New Roman" panose="02020603050405020304" pitchFamily="18" charset="0"/>
                        </a:rPr>
                        <a:t>.</a:t>
                      </a: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8" name="Group 8"/>
          <p:cNvGrpSpPr/>
          <p:nvPr/>
        </p:nvGrpSpPr>
        <p:grpSpPr>
          <a:xfrm>
            <a:off x="17047082" y="9391246"/>
            <a:ext cx="1097400" cy="787200"/>
            <a:chOff x="0" y="0"/>
            <a:chExt cx="1463200" cy="1049600"/>
          </a:xfrm>
        </p:grpSpPr>
        <p:sp>
          <p:nvSpPr>
            <p:cNvPr id="9" name="Freeform 9"/>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10" name="TextBox 10"/>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Times New Roman"/>
                  <a:ea typeface="Times New Roman"/>
                  <a:cs typeface="Times New Roman"/>
                  <a:sym typeface="Times New Roman"/>
                </a:rPr>
                <a:t>4</a:t>
              </a:r>
            </a:p>
          </p:txBody>
        </p:sp>
      </p:grpSp>
      <p:sp>
        <p:nvSpPr>
          <p:cNvPr id="11" name="TextBox 11"/>
          <p:cNvSpPr txBox="1"/>
          <p:nvPr/>
        </p:nvSpPr>
        <p:spPr>
          <a:xfrm>
            <a:off x="571309" y="277062"/>
            <a:ext cx="5707224" cy="993140"/>
          </a:xfrm>
          <a:prstGeom prst="rect">
            <a:avLst/>
          </a:prstGeom>
        </p:spPr>
        <p:txBody>
          <a:bodyPr lIns="0" tIns="0" rIns="0" bIns="0" rtlCol="0" anchor="t">
            <a:spAutoFit/>
          </a:bodyPr>
          <a:lstStyle/>
          <a:p>
            <a:pPr algn="l">
              <a:lnSpc>
                <a:spcPts val="6719"/>
              </a:lnSpc>
            </a:pPr>
            <a:r>
              <a:rPr lang="en-US" sz="5599" b="1" dirty="0">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81966"/>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4" name="Group 4"/>
          <p:cNvGrpSpPr/>
          <p:nvPr/>
        </p:nvGrpSpPr>
        <p:grpSpPr>
          <a:xfrm>
            <a:off x="943800" y="1477450"/>
            <a:ext cx="16444200" cy="1535400"/>
            <a:chOff x="0" y="0"/>
            <a:chExt cx="21925600" cy="2047200"/>
          </a:xfrm>
        </p:grpSpPr>
        <p:sp>
          <p:nvSpPr>
            <p:cNvPr id="5" name="Freeform 5"/>
            <p:cNvSpPr/>
            <p:nvPr/>
          </p:nvSpPr>
          <p:spPr>
            <a:xfrm>
              <a:off x="0" y="0"/>
              <a:ext cx="21925600" cy="2047200"/>
            </a:xfrm>
            <a:custGeom>
              <a:avLst/>
              <a:gdLst/>
              <a:ahLst/>
              <a:cxnLst/>
              <a:rect l="l" t="t" r="r" b="b"/>
              <a:pathLst>
                <a:path w="21925600" h="2047200">
                  <a:moveTo>
                    <a:pt x="0" y="0"/>
                  </a:moveTo>
                  <a:lnTo>
                    <a:pt x="21925600" y="0"/>
                  </a:lnTo>
                  <a:lnTo>
                    <a:pt x="21925600" y="2047200"/>
                  </a:lnTo>
                  <a:lnTo>
                    <a:pt x="0" y="2047200"/>
                  </a:lnTo>
                  <a:close/>
                </a:path>
              </a:pathLst>
            </a:custGeom>
            <a:solidFill>
              <a:srgbClr val="000000">
                <a:alpha val="0"/>
              </a:srgbClr>
            </a:solidFill>
          </p:spPr>
        </p:sp>
        <p:sp>
          <p:nvSpPr>
            <p:cNvPr id="6" name="TextBox 6"/>
            <p:cNvSpPr txBox="1"/>
            <p:nvPr/>
          </p:nvSpPr>
          <p:spPr>
            <a:xfrm>
              <a:off x="0" y="-28575"/>
              <a:ext cx="21925600" cy="2075775"/>
            </a:xfrm>
            <a:prstGeom prst="rect">
              <a:avLst/>
            </a:prstGeom>
          </p:spPr>
          <p:txBody>
            <a:bodyPr lIns="0" tIns="0" rIns="0" bIns="0" rtlCol="0" anchor="b"/>
            <a:lstStyle/>
            <a:p>
              <a:pPr algn="l">
                <a:lnSpc>
                  <a:spcPts val="7680"/>
                </a:lnSpc>
              </a:pPr>
              <a:r>
                <a:rPr lang="en-US" sz="6400">
                  <a:solidFill>
                    <a:srgbClr val="FFFFFF"/>
                  </a:solidFill>
                  <a:latin typeface="Times New Roman"/>
                  <a:ea typeface="Times New Roman"/>
                  <a:cs typeface="Times New Roman"/>
                  <a:sym typeface="Times New Roman"/>
                </a:rPr>
                <a:t>Literature Survey</a:t>
              </a:r>
            </a:p>
          </p:txBody>
        </p:sp>
      </p:grpSp>
      <p:graphicFrame>
        <p:nvGraphicFramePr>
          <p:cNvPr id="7" name="Table 7"/>
          <p:cNvGraphicFramePr>
            <a:graphicFrameLocks noGrp="1"/>
          </p:cNvGraphicFramePr>
          <p:nvPr>
            <p:extLst>
              <p:ext uri="{D42A27DB-BD31-4B8C-83A1-F6EECF244321}">
                <p14:modId xmlns:p14="http://schemas.microsoft.com/office/powerpoint/2010/main" val="3065741426"/>
              </p:ext>
            </p:extLst>
          </p:nvPr>
        </p:nvGraphicFramePr>
        <p:xfrm>
          <a:off x="685800" y="1790700"/>
          <a:ext cx="16992600" cy="8412222"/>
        </p:xfrm>
        <a:graphic>
          <a:graphicData uri="http://schemas.openxmlformats.org/drawingml/2006/table">
            <a:tbl>
              <a:tblPr/>
              <a:tblGrid>
                <a:gridCol w="3799607">
                  <a:extLst>
                    <a:ext uri="{9D8B030D-6E8A-4147-A177-3AD203B41FA5}">
                      <a16:colId xmlns:a16="http://schemas.microsoft.com/office/drawing/2014/main" val="20000"/>
                    </a:ext>
                  </a:extLst>
                </a:gridCol>
                <a:gridCol w="6889860">
                  <a:extLst>
                    <a:ext uri="{9D8B030D-6E8A-4147-A177-3AD203B41FA5}">
                      <a16:colId xmlns:a16="http://schemas.microsoft.com/office/drawing/2014/main" val="20001"/>
                    </a:ext>
                  </a:extLst>
                </a:gridCol>
                <a:gridCol w="6303133">
                  <a:extLst>
                    <a:ext uri="{9D8B030D-6E8A-4147-A177-3AD203B41FA5}">
                      <a16:colId xmlns:a16="http://schemas.microsoft.com/office/drawing/2014/main" val="20002"/>
                    </a:ext>
                  </a:extLst>
                </a:gridCol>
              </a:tblGrid>
              <a:tr h="1012282">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Paper Title</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Methodology Adopted</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a:solidFill>
                            <a:srgbClr val="000000"/>
                          </a:solidFill>
                          <a:latin typeface="Times New Roman Bold"/>
                          <a:ea typeface="Times New Roman Bold"/>
                          <a:cs typeface="Times New Roman Bold"/>
                          <a:sym typeface="Times New Roman Bold"/>
                        </a:rPr>
                        <a:t>Remarks/Conclusions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923027">
                <a:tc>
                  <a:txBody>
                    <a:bodyPr/>
                    <a:lstStyle/>
                    <a:p>
                      <a:pPr algn="ctr">
                        <a:lnSpc>
                          <a:spcPts val="3840"/>
                        </a:lnSpc>
                        <a:defRPr/>
                      </a:pPr>
                      <a:r>
                        <a:rPr lang="en-IN" sz="3200" dirty="0">
                          <a:latin typeface="Times New Roman" panose="02020603050405020304" pitchFamily="18" charset="0"/>
                          <a:cs typeface="Times New Roman" panose="02020603050405020304" pitchFamily="18" charset="0"/>
                        </a:rPr>
                        <a:t>John A. </a:t>
                      </a:r>
                      <a:r>
                        <a:rPr lang="en-IN" sz="3200" dirty="0" err="1">
                          <a:latin typeface="Times New Roman" panose="02020603050405020304" pitchFamily="18" charset="0"/>
                          <a:cs typeface="Times New Roman" panose="02020603050405020304" pitchFamily="18" charset="0"/>
                        </a:rPr>
                        <a:t>Sautera</a:t>
                      </a:r>
                      <a:r>
                        <a:rPr lang="en-IN" sz="3200" dirty="0">
                          <a:latin typeface="Times New Roman" panose="02020603050405020304" pitchFamily="18" charset="0"/>
                          <a:cs typeface="Times New Roman" panose="02020603050405020304" pitchFamily="18" charset="0"/>
                        </a:rPr>
                        <a:t> </a:t>
                      </a:r>
                      <a:r>
                        <a:rPr lang="en-US" sz="3200" dirty="0">
                          <a:solidFill>
                            <a:srgbClr val="222222"/>
                          </a:solidFill>
                          <a:latin typeface="Times New Roman" panose="02020603050405020304" pitchFamily="18" charset="0"/>
                          <a:ea typeface="Arial"/>
                          <a:cs typeface="Times New Roman" panose="02020603050405020304" pitchFamily="18" charset="0"/>
                          <a:sym typeface="Arial"/>
                        </a:rPr>
                        <a:t>et al</a:t>
                      </a:r>
                      <a:r>
                        <a:rPr lang="en-US" sz="3200" dirty="0">
                          <a:solidFill>
                            <a:srgbClr val="000000"/>
                          </a:solidFill>
                          <a:latin typeface="Times New Roman" panose="02020603050405020304" pitchFamily="18" charset="0"/>
                          <a:ea typeface="Arial"/>
                          <a:cs typeface="Times New Roman" panose="02020603050405020304" pitchFamily="18" charset="0"/>
                          <a:sym typeface="Arial"/>
                        </a:rPr>
                        <a:t>[3] </a:t>
                      </a:r>
                      <a:endParaRPr lang="en-US" sz="1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Studied </a:t>
                      </a:r>
                      <a:r>
                        <a:rPr lang="en-IN" sz="2400" b="0" dirty="0">
                          <a:latin typeface="Times New Roman" panose="02020603050405020304" pitchFamily="18" charset="0"/>
                          <a:cs typeface="Times New Roman" panose="02020603050405020304" pitchFamily="18" charset="0"/>
                        </a:rPr>
                        <a:t>how digital-pheromone–based swarming algorithms </a:t>
                      </a:r>
                      <a:r>
                        <a:rPr lang="en-IN" sz="2400" dirty="0">
                          <a:latin typeface="Times New Roman" panose="02020603050405020304" pitchFamily="18" charset="0"/>
                          <a:cs typeface="Times New Roman" panose="02020603050405020304" pitchFamily="18" charset="0"/>
                        </a:rPr>
                        <a:t>were used to coordinate UAVs, UGVs, PTZ cameras, and ground sensors for autonomous border/perimeter surveillance.</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Reviewed how the system was </a:t>
                      </a:r>
                      <a:r>
                        <a:rPr lang="en-IN" sz="2400" b="0" dirty="0">
                          <a:latin typeface="Times New Roman" panose="02020603050405020304" pitchFamily="18" charset="0"/>
                          <a:cs typeface="Times New Roman" panose="02020603050405020304" pitchFamily="18" charset="0"/>
                        </a:rPr>
                        <a:t>tested in real environments </a:t>
                      </a:r>
                      <a:r>
                        <a:rPr lang="en-IN" sz="2400" dirty="0">
                          <a:latin typeface="Times New Roman" panose="02020603050405020304" pitchFamily="18" charset="0"/>
                          <a:cs typeface="Times New Roman" panose="02020603050405020304" pitchFamily="18" charset="0"/>
                        </a:rPr>
                        <a:t>(e.g., NASA Wallops Island &amp; perimeter-protection field tests) to evaluate detection, tracking, and multi-sensor coordination in realistic intrusion scenarios.</a:t>
                      </a:r>
                    </a:p>
                    <a:p>
                      <a:pPr marL="579120" lvl="1" indent="-289560" algn="l">
                        <a:lnSpc>
                          <a:spcPts val="2879"/>
                        </a:lnSpc>
                        <a:buFont typeface="Arial"/>
                        <a:buChar char="•"/>
                        <a:defRPr/>
                      </a:pP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342900" indent="-342900">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The swarming algorithms proved to be highly adaptive and reliable, successfully detecting, tracking, and neutralizing intruders even during hardware failures or communication issues.</a:t>
                      </a:r>
                    </a:p>
                    <a:p>
                      <a:pPr marL="342900" indent="-342900">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The tests showed that a single operator can manage multiple autonomous sensors, creating an effective, scalable surveillance system suitable for border security applications</a:t>
                      </a:r>
                      <a:r>
                        <a:rPr lang="en-US" dirty="0"/>
                        <a:t>.</a:t>
                      </a:r>
                    </a:p>
                    <a:p>
                      <a:pPr marL="579120" lvl="1" indent="-289560" algn="l">
                        <a:lnSpc>
                          <a:spcPts val="2879"/>
                        </a:lnSpc>
                        <a:buFont typeface="Arial"/>
                        <a:buChar char="•"/>
                        <a:defRPr/>
                      </a:pP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83929">
                <a:tc>
                  <a:txBody>
                    <a:bodyPr/>
                    <a:lstStyle/>
                    <a:p>
                      <a:pPr algn="l">
                        <a:lnSpc>
                          <a:spcPts val="3840"/>
                        </a:lnSpc>
                        <a:defRPr/>
                      </a:pPr>
                      <a:endParaRPr lang="en-US" sz="1100" dirty="0"/>
                    </a:p>
                    <a:p>
                      <a:pPr algn="ctr">
                        <a:lnSpc>
                          <a:spcPts val="3840"/>
                        </a:lnSpc>
                      </a:pPr>
                      <a:r>
                        <a:rPr lang="en-IN" sz="3200" dirty="0">
                          <a:latin typeface="Times New Roman" panose="02020603050405020304" pitchFamily="18" charset="0"/>
                          <a:cs typeface="Times New Roman" panose="02020603050405020304" pitchFamily="18" charset="0"/>
                        </a:rPr>
                        <a:t>Fatima</a:t>
                      </a:r>
                      <a:r>
                        <a:rPr lang="en-US" sz="3200" dirty="0">
                          <a:solidFill>
                            <a:srgbClr val="222222"/>
                          </a:solidFill>
                          <a:latin typeface="Times New Roman" panose="02020603050405020304" pitchFamily="18" charset="0"/>
                          <a:ea typeface="Arial"/>
                          <a:cs typeface="Times New Roman" panose="02020603050405020304" pitchFamily="18" charset="0"/>
                          <a:sym typeface="Arial"/>
                        </a:rPr>
                        <a:t> et al</a:t>
                      </a:r>
                      <a:r>
                        <a:rPr lang="en-US" sz="3200" dirty="0">
                          <a:solidFill>
                            <a:srgbClr val="000000"/>
                          </a:solidFill>
                          <a:latin typeface="Times New Roman" panose="02020603050405020304" pitchFamily="18" charset="0"/>
                          <a:ea typeface="Arial"/>
                          <a:cs typeface="Times New Roman" panose="02020603050405020304" pitchFamily="18" charset="0"/>
                          <a:sym typeface="Arial"/>
                        </a:rPr>
                        <a:t>[4] </a:t>
                      </a:r>
                    </a:p>
                    <a:p>
                      <a:pPr algn="l">
                        <a:lnSpc>
                          <a:spcPts val="3840"/>
                        </a:lnSpc>
                      </a:pPr>
                      <a:endParaRPr lang="en-US" sz="3200" dirty="0">
                        <a:solidFill>
                          <a:srgbClr val="000000"/>
                        </a:solidFill>
                        <a:latin typeface="Arial"/>
                        <a:ea typeface="Arial"/>
                        <a:cs typeface="Arial"/>
                        <a:sym typeface="Arial"/>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579120" lvl="1" indent="-289560" algn="l">
                        <a:lnSpc>
                          <a:spcPts val="2879"/>
                        </a:lnSpc>
                        <a:buFont typeface="Arial"/>
                        <a:buChar char="•"/>
                        <a:defRPr/>
                      </a:pPr>
                      <a:r>
                        <a:rPr lang="en-IN" sz="2400" b="0" dirty="0">
                          <a:latin typeface="Times New Roman" panose="02020603050405020304" pitchFamily="18" charset="0"/>
                          <a:cs typeface="Times New Roman" panose="02020603050405020304" pitchFamily="18" charset="0"/>
                        </a:rPr>
                        <a:t>Studied how an IoT + Machine Learning–based intruder alert system uses a Pi Camera, Raspberry Pi, ML models (Faster R-CNN), and cloud storage to detect uniformed/un-uniformed individuals and send alerts in real time</a:t>
                      </a:r>
                    </a:p>
                    <a:p>
                      <a:pPr marL="579120" lvl="1" indent="-289560" algn="l">
                        <a:lnSpc>
                          <a:spcPts val="2879"/>
                        </a:lnSpc>
                        <a:buFont typeface="Arial"/>
                        <a:buChar char="•"/>
                        <a:defRPr/>
                      </a:pPr>
                      <a:r>
                        <a:rPr lang="en-US" sz="2400" b="0" dirty="0">
                          <a:latin typeface="Times New Roman" panose="02020603050405020304" pitchFamily="18" charset="0"/>
                          <a:cs typeface="Times New Roman" panose="02020603050405020304" pitchFamily="18" charset="0"/>
                        </a:rPr>
                        <a:t>Reviewed the two-stage detection pipeline, where the system first checks uniform vs. civilian using object detection,</a:t>
                      </a: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579120" lvl="1" indent="-289560" algn="l">
                        <a:lnSpc>
                          <a:spcPts val="2879"/>
                        </a:lnSpc>
                        <a:buFont typeface="Arial"/>
                        <a:buChar char="•"/>
                        <a:defRPr/>
                      </a:pPr>
                      <a:r>
                        <a:rPr lang="en-US" sz="2400" b="0" dirty="0">
                          <a:latin typeface="Times New Roman" panose="02020603050405020304" pitchFamily="18" charset="0"/>
                          <a:cs typeface="Times New Roman" panose="02020603050405020304" pitchFamily="18" charset="0"/>
                        </a:rPr>
                        <a:t>The system provides automated, and low-cost approach to border surveillance, reducing heavy manpower requirements and improving safety in extreme terrains </a:t>
                      </a:r>
                    </a:p>
                    <a:p>
                      <a:pPr marL="579120" lvl="1" indent="-289560" algn="l">
                        <a:lnSpc>
                          <a:spcPts val="2879"/>
                        </a:lnSpc>
                        <a:buFont typeface="Arial"/>
                        <a:buChar char="•"/>
                        <a:defRPr/>
                      </a:pPr>
                      <a:r>
                        <a:rPr lang="en-US" sz="2400" b="0" dirty="0">
                          <a:latin typeface="Times New Roman" panose="02020603050405020304" pitchFamily="18" charset="0"/>
                          <a:cs typeface="Times New Roman" panose="02020603050405020304" pitchFamily="18" charset="0"/>
                        </a:rPr>
                        <a:t>The approach achieves high accuracy in intruder detection and secure data handling, using ML models and AES encryption, though improvements like better masked-face detection</a:t>
                      </a: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8" name="Group 8"/>
          <p:cNvGrpSpPr/>
          <p:nvPr/>
        </p:nvGrpSpPr>
        <p:grpSpPr>
          <a:xfrm>
            <a:off x="17047082" y="9391246"/>
            <a:ext cx="1097400" cy="787200"/>
            <a:chOff x="0" y="0"/>
            <a:chExt cx="1463200" cy="1049600"/>
          </a:xfrm>
        </p:grpSpPr>
        <p:sp>
          <p:nvSpPr>
            <p:cNvPr id="9" name="Freeform 9"/>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10" name="TextBox 10"/>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Times New Roman"/>
                  <a:ea typeface="Times New Roman"/>
                  <a:cs typeface="Times New Roman"/>
                  <a:sym typeface="Times New Roman"/>
                </a:rPr>
                <a:t>5</a:t>
              </a:r>
            </a:p>
          </p:txBody>
        </p:sp>
      </p:grpSp>
      <p:sp>
        <p:nvSpPr>
          <p:cNvPr id="11" name="TextBox 11"/>
          <p:cNvSpPr txBox="1"/>
          <p:nvPr/>
        </p:nvSpPr>
        <p:spPr>
          <a:xfrm>
            <a:off x="571309" y="277062"/>
            <a:ext cx="5707350" cy="993100"/>
          </a:xfrm>
          <a:prstGeom prst="rect">
            <a:avLst/>
          </a:prstGeom>
        </p:spPr>
        <p:txBody>
          <a:bodyPr lIns="0" tIns="0" rIns="0" bIns="0" rtlCol="0" anchor="t">
            <a:spAutoFit/>
          </a:bodyPr>
          <a:lstStyle/>
          <a:p>
            <a:pPr algn="l">
              <a:lnSpc>
                <a:spcPts val="6719"/>
              </a:lnSpc>
            </a:pPr>
            <a:r>
              <a:rPr lang="en-US" sz="5599" b="1" dirty="0">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7C9169-2AE2-06FC-94AD-D6E19A7E29FB}"/>
              </a:ext>
            </a:extLst>
          </p:cNvPr>
          <p:cNvSpPr/>
          <p:nvPr/>
        </p:nvSpPr>
        <p:spPr>
          <a:xfrm>
            <a:off x="0" y="0"/>
            <a:ext cx="18288000" cy="1866900"/>
          </a:xfrm>
          <a:prstGeom prst="rect">
            <a:avLst/>
          </a:prstGeom>
          <a:solidFill>
            <a:srgbClr val="4285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highlight>
                <a:srgbClr val="0000FF"/>
              </a:highlight>
            </a:endParaRPr>
          </a:p>
        </p:txBody>
      </p:sp>
      <p:sp>
        <p:nvSpPr>
          <p:cNvPr id="4" name="TextBox 3">
            <a:extLst>
              <a:ext uri="{FF2B5EF4-FFF2-40B4-BE49-F238E27FC236}">
                <a16:creationId xmlns:a16="http://schemas.microsoft.com/office/drawing/2014/main" id="{22621126-7AE5-4108-7146-0222F1971463}"/>
              </a:ext>
            </a:extLst>
          </p:cNvPr>
          <p:cNvSpPr txBox="1"/>
          <p:nvPr/>
        </p:nvSpPr>
        <p:spPr>
          <a:xfrm>
            <a:off x="228600" y="266700"/>
            <a:ext cx="6559826" cy="951543"/>
          </a:xfrm>
          <a:prstGeom prst="rect">
            <a:avLst/>
          </a:prstGeom>
          <a:noFill/>
        </p:spPr>
        <p:txBody>
          <a:bodyPr wrap="square">
            <a:spAutoFit/>
          </a:bodyPr>
          <a:lstStyle/>
          <a:p>
            <a:pPr algn="l">
              <a:lnSpc>
                <a:spcPts val="6719"/>
              </a:lnSpc>
            </a:pPr>
            <a:r>
              <a:rPr lang="en-US" sz="5600" b="1" dirty="0">
                <a:solidFill>
                  <a:srgbClr val="000000"/>
                </a:solidFill>
                <a:latin typeface="Times New Roman Bold"/>
                <a:ea typeface="Times New Roman Bold"/>
                <a:cs typeface="Times New Roman Bold"/>
                <a:sym typeface="Times New Roman Bold"/>
              </a:rPr>
              <a:t> Literature Survey</a:t>
            </a:r>
          </a:p>
        </p:txBody>
      </p:sp>
      <p:graphicFrame>
        <p:nvGraphicFramePr>
          <p:cNvPr id="5" name="Table 7">
            <a:extLst>
              <a:ext uri="{FF2B5EF4-FFF2-40B4-BE49-F238E27FC236}">
                <a16:creationId xmlns:a16="http://schemas.microsoft.com/office/drawing/2014/main" id="{4C98303E-AAF7-7980-EA14-F60F52A29ED2}"/>
              </a:ext>
            </a:extLst>
          </p:cNvPr>
          <p:cNvGraphicFramePr>
            <a:graphicFrameLocks noGrp="1"/>
          </p:cNvGraphicFramePr>
          <p:nvPr>
            <p:extLst>
              <p:ext uri="{D42A27DB-BD31-4B8C-83A1-F6EECF244321}">
                <p14:modId xmlns:p14="http://schemas.microsoft.com/office/powerpoint/2010/main" val="441883560"/>
              </p:ext>
            </p:extLst>
          </p:nvPr>
        </p:nvGraphicFramePr>
        <p:xfrm>
          <a:off x="685798" y="1866900"/>
          <a:ext cx="16687801" cy="7917321"/>
        </p:xfrm>
        <a:graphic>
          <a:graphicData uri="http://schemas.openxmlformats.org/drawingml/2006/table">
            <a:tbl>
              <a:tblPr/>
              <a:tblGrid>
                <a:gridCol w="3731453">
                  <a:extLst>
                    <a:ext uri="{9D8B030D-6E8A-4147-A177-3AD203B41FA5}">
                      <a16:colId xmlns:a16="http://schemas.microsoft.com/office/drawing/2014/main" val="20000"/>
                    </a:ext>
                  </a:extLst>
                </a:gridCol>
                <a:gridCol w="6766275">
                  <a:extLst>
                    <a:ext uri="{9D8B030D-6E8A-4147-A177-3AD203B41FA5}">
                      <a16:colId xmlns:a16="http://schemas.microsoft.com/office/drawing/2014/main" val="20001"/>
                    </a:ext>
                  </a:extLst>
                </a:gridCol>
                <a:gridCol w="6190073">
                  <a:extLst>
                    <a:ext uri="{9D8B030D-6E8A-4147-A177-3AD203B41FA5}">
                      <a16:colId xmlns:a16="http://schemas.microsoft.com/office/drawing/2014/main" val="20002"/>
                    </a:ext>
                  </a:extLst>
                </a:gridCol>
              </a:tblGrid>
              <a:tr h="1111543">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Paper Title</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Methodology Adopted</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Remarks/Conclusions</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16507">
                <a:tc>
                  <a:txBody>
                    <a:bodyPr/>
                    <a:lstStyle/>
                    <a:p>
                      <a:pPr algn="ctr">
                        <a:lnSpc>
                          <a:spcPts val="3840"/>
                        </a:lnSpc>
                        <a:defRPr/>
                      </a:pPr>
                      <a:r>
                        <a:rPr lang="en-IN" sz="3200" dirty="0">
                          <a:latin typeface="Times New Roman" panose="02020603050405020304" pitchFamily="18" charset="0"/>
                          <a:cs typeface="Times New Roman" panose="02020603050405020304" pitchFamily="18" charset="0"/>
                        </a:rPr>
                        <a:t>Arjun et al [5]</a:t>
                      </a:r>
                      <a:endParaRPr lang="en-US" sz="1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Studied different wireless sensor network techniques used for intrusion detection in large surveillance areas. Reviewed methods for sensor deployment, communication, and data collection for efficient monitoring.</a:t>
                      </a:r>
                      <a:endParaRPr lang="en-US" sz="1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Wireless sensor networks provide good coverage for large areas with low power consumption. However, issues like network reliability and coordination between sensors still remain challenges.</a:t>
                      </a:r>
                      <a:r>
                        <a:rPr lang="en-US" dirty="0">
                          <a:latin typeface="Times New Roman" panose="02020603050405020304" pitchFamily="18" charset="0"/>
                          <a:cs typeface="Times New Roman" panose="02020603050405020304" pitchFamily="18" charset="0"/>
                        </a:rPr>
                        <a:t>.</a:t>
                      </a:r>
                    </a:p>
                    <a:p>
                      <a:pPr marL="579120" lvl="1" indent="-289560" algn="l">
                        <a:lnSpc>
                          <a:spcPts val="2879"/>
                        </a:lnSpc>
                        <a:buFont typeface="Arial"/>
                        <a:buChar char="•"/>
                        <a:defRPr/>
                      </a:pPr>
                      <a:endParaRPr lang="en-US" sz="1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89271">
                <a:tc>
                  <a:txBody>
                    <a:bodyPr/>
                    <a:lstStyle/>
                    <a:p>
                      <a:pPr algn="l">
                        <a:lnSpc>
                          <a:spcPts val="3840"/>
                        </a:lnSpc>
                        <a:defRPr/>
                      </a:pPr>
                      <a:endParaRPr lang="en-US" sz="1100" dirty="0"/>
                    </a:p>
                    <a:p>
                      <a:pPr algn="ctr">
                        <a:lnSpc>
                          <a:spcPts val="3840"/>
                        </a:lnSpc>
                      </a:pPr>
                      <a:r>
                        <a:rPr lang="en-IN" sz="3200" dirty="0" err="1">
                          <a:latin typeface="Times New Roman" panose="02020603050405020304" pitchFamily="18" charset="0"/>
                          <a:cs typeface="Times New Roman" panose="02020603050405020304" pitchFamily="18" charset="0"/>
                        </a:rPr>
                        <a:t>Nahata</a:t>
                      </a:r>
                      <a:r>
                        <a:rPr lang="en-IN" sz="3200" dirty="0">
                          <a:latin typeface="Times New Roman" panose="02020603050405020304" pitchFamily="18" charset="0"/>
                          <a:cs typeface="Times New Roman" panose="02020603050405020304" pitchFamily="18" charset="0"/>
                        </a:rPr>
                        <a:t> et al [6]</a:t>
                      </a:r>
                      <a:endParaRPr lang="en-US" sz="3200" dirty="0">
                        <a:solidFill>
                          <a:srgbClr val="000000"/>
                        </a:solidFill>
                        <a:latin typeface="Times New Roman" panose="02020603050405020304" pitchFamily="18" charset="0"/>
                        <a:ea typeface="Arial"/>
                        <a:cs typeface="Times New Roman" panose="02020603050405020304" pitchFamily="18" charset="0"/>
                        <a:sym typeface="Arial"/>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579120" lvl="1" indent="-289560" algn="l">
                        <a:lnSpc>
                          <a:spcPts val="2879"/>
                        </a:lnSpc>
                        <a:buFont typeface="Arial"/>
                        <a:buChar char="•"/>
                        <a:defRPr/>
                      </a:pPr>
                      <a:r>
                        <a:rPr lang="en-US" sz="2400" dirty="0">
                          <a:latin typeface="Times New Roman" panose="02020603050405020304" pitchFamily="18" charset="0"/>
                          <a:cs typeface="Times New Roman" panose="02020603050405020304" pitchFamily="18" charset="0"/>
                        </a:rPr>
                        <a:t>Implemented a YOLO-based object detection model for real-time surveillance applications. Tested the system using image datasets to evaluate detection speed and accuracy.</a:t>
                      </a:r>
                      <a:endParaRPr lang="en-US" sz="2400" b="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632460" lvl="1" indent="-342900" algn="l">
                        <a:lnSpc>
                          <a:spcPts val="2879"/>
                        </a:lnSpc>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YOLO provides fast and accurate detection suitable for real-time systems. Performance depends on lighting conditions and quality of input images.</a:t>
                      </a:r>
                      <a:endParaRPr lang="en-US" sz="2400" b="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41520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562101"/>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4" name="Group 4"/>
          <p:cNvGrpSpPr/>
          <p:nvPr/>
        </p:nvGrpSpPr>
        <p:grpSpPr>
          <a:xfrm>
            <a:off x="609600" y="108553"/>
            <a:ext cx="16556100" cy="1426717"/>
            <a:chOff x="0" y="-9525"/>
            <a:chExt cx="21925600" cy="1270749"/>
          </a:xfrm>
        </p:grpSpPr>
        <p:sp>
          <p:nvSpPr>
            <p:cNvPr id="5" name="Freeform 5"/>
            <p:cNvSpPr/>
            <p:nvPr/>
          </p:nvSpPr>
          <p:spPr>
            <a:xfrm>
              <a:off x="0" y="0"/>
              <a:ext cx="21925600" cy="1261224"/>
            </a:xfrm>
            <a:custGeom>
              <a:avLst/>
              <a:gdLst/>
              <a:ahLst/>
              <a:cxnLst/>
              <a:rect l="l" t="t" r="r" b="b"/>
              <a:pathLst>
                <a:path w="21925600" h="1261224">
                  <a:moveTo>
                    <a:pt x="0" y="0"/>
                  </a:moveTo>
                  <a:lnTo>
                    <a:pt x="21925600" y="0"/>
                  </a:lnTo>
                  <a:lnTo>
                    <a:pt x="21925600" y="1261224"/>
                  </a:lnTo>
                  <a:lnTo>
                    <a:pt x="0" y="1261224"/>
                  </a:lnTo>
                  <a:close/>
                </a:path>
              </a:pathLst>
            </a:custGeom>
            <a:solidFill>
              <a:srgbClr val="000000">
                <a:alpha val="0"/>
              </a:srgbClr>
            </a:solidFill>
          </p:spPr>
          <p:txBody>
            <a:bodyPr/>
            <a:lstStyle/>
            <a:p>
              <a:endParaRPr lang="en-US" dirty="0"/>
            </a:p>
          </p:txBody>
        </p:sp>
        <p:sp>
          <p:nvSpPr>
            <p:cNvPr id="6" name="TextBox 6"/>
            <p:cNvSpPr txBox="1"/>
            <p:nvPr/>
          </p:nvSpPr>
          <p:spPr>
            <a:xfrm>
              <a:off x="0" y="-9525"/>
              <a:ext cx="21925600" cy="1120429"/>
            </a:xfrm>
            <a:prstGeom prst="rect">
              <a:avLst/>
            </a:prstGeom>
          </p:spPr>
          <p:txBody>
            <a:bodyPr lIns="0" tIns="0" rIns="0" bIns="0" rtlCol="0" anchor="b"/>
            <a:lstStyle/>
            <a:p>
              <a:pPr algn="l">
                <a:lnSpc>
                  <a:spcPts val="7680"/>
                </a:lnSpc>
              </a:pPr>
              <a:endParaRPr dirty="0"/>
            </a:p>
            <a:p>
              <a:pPr algn="l">
                <a:lnSpc>
                  <a:spcPts val="7680"/>
                </a:lnSpc>
              </a:pPr>
              <a:r>
                <a:rPr lang="en-US" sz="5600" b="1" dirty="0">
                  <a:solidFill>
                    <a:srgbClr val="000000"/>
                  </a:solidFill>
                  <a:latin typeface="Times New Roman Bold"/>
                  <a:ea typeface="Times New Roman Bold"/>
                  <a:cs typeface="Times New Roman Bold"/>
                  <a:sym typeface="Times New Roman Bold"/>
                </a:rPr>
                <a:t>Literature Survey</a:t>
              </a:r>
            </a:p>
          </p:txBody>
        </p:sp>
      </p:grpSp>
      <p:grpSp>
        <p:nvGrpSpPr>
          <p:cNvPr id="7" name="Group 7"/>
          <p:cNvGrpSpPr/>
          <p:nvPr/>
        </p:nvGrpSpPr>
        <p:grpSpPr>
          <a:xfrm>
            <a:off x="17047082" y="9391246"/>
            <a:ext cx="1097400" cy="787200"/>
            <a:chOff x="0" y="0"/>
            <a:chExt cx="1463200" cy="1049600"/>
          </a:xfrm>
        </p:grpSpPr>
        <p:sp>
          <p:nvSpPr>
            <p:cNvPr id="8" name="Freeform 8"/>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9" name="TextBox 9"/>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Roboto"/>
                  <a:ea typeface="Roboto"/>
                  <a:cs typeface="Roboto"/>
                  <a:sym typeface="Roboto"/>
                </a:rPr>
                <a:t>6</a:t>
              </a:r>
            </a:p>
          </p:txBody>
        </p:sp>
      </p:grpSp>
      <p:graphicFrame>
        <p:nvGraphicFramePr>
          <p:cNvPr id="11" name="Table 10">
            <a:extLst>
              <a:ext uri="{FF2B5EF4-FFF2-40B4-BE49-F238E27FC236}">
                <a16:creationId xmlns:a16="http://schemas.microsoft.com/office/drawing/2014/main" id="{290FB389-F4AE-C4FB-99CB-B294D9E4D1B3}"/>
              </a:ext>
            </a:extLst>
          </p:cNvPr>
          <p:cNvGraphicFramePr>
            <a:graphicFrameLocks noGrp="1"/>
          </p:cNvGraphicFramePr>
          <p:nvPr>
            <p:extLst>
              <p:ext uri="{D42A27DB-BD31-4B8C-83A1-F6EECF244321}">
                <p14:modId xmlns:p14="http://schemas.microsoft.com/office/powerpoint/2010/main" val="56364416"/>
              </p:ext>
            </p:extLst>
          </p:nvPr>
        </p:nvGraphicFramePr>
        <p:xfrm>
          <a:off x="457200" y="1730830"/>
          <a:ext cx="16764000" cy="7786690"/>
        </p:xfrm>
        <a:graphic>
          <a:graphicData uri="http://schemas.openxmlformats.org/drawingml/2006/table">
            <a:tbl>
              <a:tblPr/>
              <a:tblGrid>
                <a:gridCol w="3748491">
                  <a:extLst>
                    <a:ext uri="{9D8B030D-6E8A-4147-A177-3AD203B41FA5}">
                      <a16:colId xmlns:a16="http://schemas.microsoft.com/office/drawing/2014/main" val="13022568"/>
                    </a:ext>
                  </a:extLst>
                </a:gridCol>
                <a:gridCol w="6797171">
                  <a:extLst>
                    <a:ext uri="{9D8B030D-6E8A-4147-A177-3AD203B41FA5}">
                      <a16:colId xmlns:a16="http://schemas.microsoft.com/office/drawing/2014/main" val="2189466164"/>
                    </a:ext>
                  </a:extLst>
                </a:gridCol>
                <a:gridCol w="6218338">
                  <a:extLst>
                    <a:ext uri="{9D8B030D-6E8A-4147-A177-3AD203B41FA5}">
                      <a16:colId xmlns:a16="http://schemas.microsoft.com/office/drawing/2014/main" val="157521411"/>
                    </a:ext>
                  </a:extLst>
                </a:gridCol>
              </a:tblGrid>
              <a:tr h="1093203">
                <a:tc>
                  <a:txBody>
                    <a:bodyPr/>
                    <a:lstStyle/>
                    <a:p>
                      <a:pPr algn="ctr">
                        <a:lnSpc>
                          <a:spcPts val="3840"/>
                        </a:lnSpc>
                        <a:defRPr/>
                      </a:pPr>
                      <a:r>
                        <a:rPr lang="en-US" sz="3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Paper Title</a:t>
                      </a:r>
                      <a:endParaRPr lang="en-US" sz="32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Methodology Adopted</a:t>
                      </a:r>
                      <a:endParaRPr lang="en-US" sz="32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Remarks/Conclusions</a:t>
                      </a:r>
                      <a:endParaRPr lang="en-US" sz="32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6427597"/>
                  </a:ext>
                </a:extLst>
              </a:tr>
              <a:tr h="3261787">
                <a:tc>
                  <a:txBody>
                    <a:bodyPr/>
                    <a:lstStyle/>
                    <a:p>
                      <a:pPr algn="ctr">
                        <a:lnSpc>
                          <a:spcPts val="3840"/>
                        </a:lnSpc>
                        <a:defRPr/>
                      </a:pPr>
                      <a:r>
                        <a:rPr lang="en-IN" sz="3200" dirty="0">
                          <a:latin typeface="Times New Roman" panose="02020603050405020304" pitchFamily="18" charset="0"/>
                          <a:cs typeface="Times New Roman" panose="02020603050405020304" pitchFamily="18" charset="0"/>
                        </a:rPr>
                        <a:t>Noor et al [7]</a:t>
                      </a:r>
                      <a:endParaRPr lang="en-US" sz="32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Developed a digital border surveillance system using YOLOv7 for object detection. Integrated camera-based monitoring with real-time detection and alert generation.</a:t>
                      </a: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showed good accuracy in detecting humans and objects in real time.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proper hardware support for stable performance in continuous monitoring. </a:t>
                      </a:r>
                    </a:p>
                    <a:p>
                      <a:pPr marL="289560" lvl="1" indent="0" algn="l">
                        <a:lnSpc>
                          <a:spcPts val="2879"/>
                        </a:lnSpc>
                        <a:buFont typeface="Arial"/>
                        <a:buNone/>
                        <a:defRPr/>
                      </a:pPr>
                      <a:endParaRPr lang="en-US" sz="24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9574459"/>
                  </a:ext>
                </a:extLst>
              </a:tr>
              <a:tr h="3431700">
                <a:tc>
                  <a:txBody>
                    <a:bodyPr/>
                    <a:lstStyle/>
                    <a:p>
                      <a:pPr algn="l">
                        <a:lnSpc>
                          <a:spcPts val="3840"/>
                        </a:lnSpc>
                        <a:defRPr/>
                      </a:pPr>
                      <a:endParaRPr lang="en-US" sz="2400" dirty="0">
                        <a:latin typeface="Times New Roman" panose="02020603050405020304" pitchFamily="18" charset="0"/>
                        <a:cs typeface="Times New Roman" panose="02020603050405020304" pitchFamily="18" charset="0"/>
                      </a:endParaRPr>
                    </a:p>
                    <a:p>
                      <a:pPr algn="ctr">
                        <a:lnSpc>
                          <a:spcPts val="3840"/>
                        </a:lnSpc>
                      </a:pPr>
                      <a:r>
                        <a:rPr lang="en-IN" sz="3200" dirty="0">
                          <a:latin typeface="Times New Roman" panose="02020603050405020304" pitchFamily="18" charset="0"/>
                          <a:cs typeface="Times New Roman" panose="02020603050405020304" pitchFamily="18" charset="0"/>
                        </a:rPr>
                        <a:t>Kumar et al [8]</a:t>
                      </a:r>
                      <a:endParaRPr lang="en-US" sz="3200" dirty="0">
                        <a:solidFill>
                          <a:srgbClr val="000000"/>
                        </a:solidFill>
                        <a:latin typeface="Times New Roman" panose="02020603050405020304" pitchFamily="18" charset="0"/>
                        <a:ea typeface="Arial"/>
                        <a:cs typeface="Times New Roman" panose="02020603050405020304" pitchFamily="18" charset="0"/>
                        <a:sym typeface="Arial"/>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579120" lvl="1" indent="-289560" algn="l">
                        <a:lnSpc>
                          <a:spcPts val="2879"/>
                        </a:lnSpc>
                        <a:buFont typeface="Arial"/>
                        <a:buChar char="•"/>
                        <a:defRPr/>
                      </a:pPr>
                      <a:r>
                        <a:rPr lang="en-US" sz="2400" dirty="0">
                          <a:latin typeface="Times New Roman" panose="02020603050405020304" pitchFamily="18" charset="0"/>
                          <a:cs typeface="Times New Roman" panose="02020603050405020304" pitchFamily="18" charset="0"/>
                        </a:rPr>
                        <a:t>Applied deep learning models for detecting objects in surveillance systems. Focused on improving detection in different environmental conditions such as low light.</a:t>
                      </a:r>
                      <a:endParaRPr lang="en-US" sz="2400" b="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579120" lvl="1" indent="-289560" algn="l">
                        <a:lnSpc>
                          <a:spcPts val="2879"/>
                        </a:lnSpc>
                        <a:buFont typeface="Arial"/>
                        <a:buChar char="•"/>
                        <a:defRPr/>
                      </a:pPr>
                      <a:r>
                        <a:rPr lang="en-US" sz="2400" dirty="0">
                          <a:latin typeface="Times New Roman" panose="02020603050405020304" pitchFamily="18" charset="0"/>
                          <a:cs typeface="Times New Roman" panose="02020603050405020304" pitchFamily="18" charset="0"/>
                        </a:rPr>
                        <a:t>Deep learning improves detection accuracy compared to traditional methods. Computational requirements can be high for embedded systems.</a:t>
                      </a:r>
                      <a:endParaRPr lang="en-US" sz="2400" b="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694766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a:extLst>
            <a:ext uri="{FF2B5EF4-FFF2-40B4-BE49-F238E27FC236}">
              <a16:creationId xmlns:a16="http://schemas.microsoft.com/office/drawing/2014/main" id="{D2DBDEF7-3CED-B149-DC4E-E6487C11C1B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5DDA86A-7CEB-2FA9-B55E-1F97F608C404}"/>
              </a:ext>
            </a:extLst>
          </p:cNvPr>
          <p:cNvGrpSpPr/>
          <p:nvPr/>
        </p:nvGrpSpPr>
        <p:grpSpPr>
          <a:xfrm rot="-10800000">
            <a:off x="0" y="1562101"/>
            <a:ext cx="18288000" cy="8643134"/>
            <a:chOff x="0" y="0"/>
            <a:chExt cx="24384000" cy="11524179"/>
          </a:xfrm>
        </p:grpSpPr>
        <p:sp>
          <p:nvSpPr>
            <p:cNvPr id="3" name="Freeform 3">
              <a:extLst>
                <a:ext uri="{FF2B5EF4-FFF2-40B4-BE49-F238E27FC236}">
                  <a16:creationId xmlns:a16="http://schemas.microsoft.com/office/drawing/2014/main" id="{EA7C485C-02C1-793B-9C43-4B043E2DFA9D}"/>
                </a:ext>
              </a:extLst>
            </p:cNvPr>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4" name="Group 4">
            <a:extLst>
              <a:ext uri="{FF2B5EF4-FFF2-40B4-BE49-F238E27FC236}">
                <a16:creationId xmlns:a16="http://schemas.microsoft.com/office/drawing/2014/main" id="{8021A967-BDCF-97AC-0B5F-176F4B73186D}"/>
              </a:ext>
            </a:extLst>
          </p:cNvPr>
          <p:cNvGrpSpPr/>
          <p:nvPr/>
        </p:nvGrpSpPr>
        <p:grpSpPr>
          <a:xfrm>
            <a:off x="721500" y="448996"/>
            <a:ext cx="16444200" cy="945918"/>
            <a:chOff x="0" y="0"/>
            <a:chExt cx="21925600" cy="1261224"/>
          </a:xfrm>
        </p:grpSpPr>
        <p:sp>
          <p:nvSpPr>
            <p:cNvPr id="5" name="Freeform 5">
              <a:extLst>
                <a:ext uri="{FF2B5EF4-FFF2-40B4-BE49-F238E27FC236}">
                  <a16:creationId xmlns:a16="http://schemas.microsoft.com/office/drawing/2014/main" id="{4CD91075-B720-1CDD-0675-19C6FDC30230}"/>
                </a:ext>
              </a:extLst>
            </p:cNvPr>
            <p:cNvSpPr/>
            <p:nvPr/>
          </p:nvSpPr>
          <p:spPr>
            <a:xfrm>
              <a:off x="0" y="0"/>
              <a:ext cx="21925600" cy="1261224"/>
            </a:xfrm>
            <a:custGeom>
              <a:avLst/>
              <a:gdLst/>
              <a:ahLst/>
              <a:cxnLst/>
              <a:rect l="l" t="t" r="r" b="b"/>
              <a:pathLst>
                <a:path w="21925600" h="1261224">
                  <a:moveTo>
                    <a:pt x="0" y="0"/>
                  </a:moveTo>
                  <a:lnTo>
                    <a:pt x="21925600" y="0"/>
                  </a:lnTo>
                  <a:lnTo>
                    <a:pt x="21925600" y="1261224"/>
                  </a:lnTo>
                  <a:lnTo>
                    <a:pt x="0" y="1261224"/>
                  </a:lnTo>
                  <a:close/>
                </a:path>
              </a:pathLst>
            </a:custGeom>
            <a:solidFill>
              <a:srgbClr val="000000">
                <a:alpha val="0"/>
              </a:srgbClr>
            </a:solidFill>
          </p:spPr>
        </p:sp>
        <p:sp>
          <p:nvSpPr>
            <p:cNvPr id="6" name="TextBox 6">
              <a:extLst>
                <a:ext uri="{FF2B5EF4-FFF2-40B4-BE49-F238E27FC236}">
                  <a16:creationId xmlns:a16="http://schemas.microsoft.com/office/drawing/2014/main" id="{A5D9E01B-6911-833C-A22D-0DAB70086EA0}"/>
                </a:ext>
              </a:extLst>
            </p:cNvPr>
            <p:cNvSpPr txBox="1"/>
            <p:nvPr/>
          </p:nvSpPr>
          <p:spPr>
            <a:xfrm>
              <a:off x="0" y="-9525"/>
              <a:ext cx="21925600" cy="1270749"/>
            </a:xfrm>
            <a:prstGeom prst="rect">
              <a:avLst/>
            </a:prstGeom>
          </p:spPr>
          <p:txBody>
            <a:bodyPr lIns="0" tIns="0" rIns="0" bIns="0" rtlCol="0" anchor="b"/>
            <a:lstStyle/>
            <a:p>
              <a:pPr algn="l">
                <a:lnSpc>
                  <a:spcPts val="7680"/>
                </a:lnSpc>
              </a:pPr>
              <a:endParaRPr/>
            </a:p>
            <a:p>
              <a:pPr algn="l">
                <a:lnSpc>
                  <a:spcPts val="7680"/>
                </a:lnSpc>
              </a:pPr>
              <a:r>
                <a:rPr lang="en-US" sz="6400" b="1">
                  <a:solidFill>
                    <a:srgbClr val="000000"/>
                  </a:solidFill>
                  <a:latin typeface="Times New Roman Bold"/>
                  <a:ea typeface="Times New Roman Bold"/>
                  <a:cs typeface="Times New Roman Bold"/>
                  <a:sym typeface="Times New Roman Bold"/>
                </a:rPr>
                <a:t>Literature Survey</a:t>
              </a:r>
            </a:p>
          </p:txBody>
        </p:sp>
      </p:grpSp>
      <p:grpSp>
        <p:nvGrpSpPr>
          <p:cNvPr id="7" name="Group 7">
            <a:extLst>
              <a:ext uri="{FF2B5EF4-FFF2-40B4-BE49-F238E27FC236}">
                <a16:creationId xmlns:a16="http://schemas.microsoft.com/office/drawing/2014/main" id="{722F8896-79DA-BFE9-3CEF-9611E935AA90}"/>
              </a:ext>
            </a:extLst>
          </p:cNvPr>
          <p:cNvGrpSpPr/>
          <p:nvPr/>
        </p:nvGrpSpPr>
        <p:grpSpPr>
          <a:xfrm>
            <a:off x="17047082" y="9391246"/>
            <a:ext cx="1097400" cy="787200"/>
            <a:chOff x="0" y="0"/>
            <a:chExt cx="1463200" cy="1049600"/>
          </a:xfrm>
        </p:grpSpPr>
        <p:sp>
          <p:nvSpPr>
            <p:cNvPr id="8" name="Freeform 8">
              <a:extLst>
                <a:ext uri="{FF2B5EF4-FFF2-40B4-BE49-F238E27FC236}">
                  <a16:creationId xmlns:a16="http://schemas.microsoft.com/office/drawing/2014/main" id="{F7710823-19E1-41AF-288A-862F22FD14B5}"/>
                </a:ext>
              </a:extLst>
            </p:cNvPr>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9" name="TextBox 9">
              <a:extLst>
                <a:ext uri="{FF2B5EF4-FFF2-40B4-BE49-F238E27FC236}">
                  <a16:creationId xmlns:a16="http://schemas.microsoft.com/office/drawing/2014/main" id="{2A5365A9-BC44-F972-D7D4-9A86A01140DA}"/>
                </a:ext>
              </a:extLst>
            </p:cNvPr>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Roboto"/>
                  <a:ea typeface="Roboto"/>
                  <a:cs typeface="Roboto"/>
                  <a:sym typeface="Roboto"/>
                </a:rPr>
                <a:t>6</a:t>
              </a:r>
            </a:p>
          </p:txBody>
        </p:sp>
      </p:grpSp>
      <p:graphicFrame>
        <p:nvGraphicFramePr>
          <p:cNvPr id="11" name="Table 10">
            <a:extLst>
              <a:ext uri="{FF2B5EF4-FFF2-40B4-BE49-F238E27FC236}">
                <a16:creationId xmlns:a16="http://schemas.microsoft.com/office/drawing/2014/main" id="{A55590D9-ED5E-1E39-0A8F-BE1BDE2E4040}"/>
              </a:ext>
            </a:extLst>
          </p:cNvPr>
          <p:cNvGraphicFramePr>
            <a:graphicFrameLocks noGrp="1"/>
          </p:cNvGraphicFramePr>
          <p:nvPr>
            <p:extLst>
              <p:ext uri="{D42A27DB-BD31-4B8C-83A1-F6EECF244321}">
                <p14:modId xmlns:p14="http://schemas.microsoft.com/office/powerpoint/2010/main" val="2185078497"/>
              </p:ext>
            </p:extLst>
          </p:nvPr>
        </p:nvGraphicFramePr>
        <p:xfrm>
          <a:off x="914400" y="1600200"/>
          <a:ext cx="16383000" cy="7917321"/>
        </p:xfrm>
        <a:graphic>
          <a:graphicData uri="http://schemas.openxmlformats.org/drawingml/2006/table">
            <a:tbl>
              <a:tblPr/>
              <a:tblGrid>
                <a:gridCol w="3663299">
                  <a:extLst>
                    <a:ext uri="{9D8B030D-6E8A-4147-A177-3AD203B41FA5}">
                      <a16:colId xmlns:a16="http://schemas.microsoft.com/office/drawing/2014/main" val="13022568"/>
                    </a:ext>
                  </a:extLst>
                </a:gridCol>
                <a:gridCol w="6642689">
                  <a:extLst>
                    <a:ext uri="{9D8B030D-6E8A-4147-A177-3AD203B41FA5}">
                      <a16:colId xmlns:a16="http://schemas.microsoft.com/office/drawing/2014/main" val="2189466164"/>
                    </a:ext>
                  </a:extLst>
                </a:gridCol>
                <a:gridCol w="6077012">
                  <a:extLst>
                    <a:ext uri="{9D8B030D-6E8A-4147-A177-3AD203B41FA5}">
                      <a16:colId xmlns:a16="http://schemas.microsoft.com/office/drawing/2014/main" val="157521411"/>
                    </a:ext>
                  </a:extLst>
                </a:gridCol>
              </a:tblGrid>
              <a:tr h="1111543">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Paper Title</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dirty="0">
                          <a:solidFill>
                            <a:srgbClr val="000000"/>
                          </a:solidFill>
                          <a:latin typeface="Times New Roman Bold"/>
                          <a:ea typeface="Times New Roman Bold"/>
                          <a:cs typeface="Times New Roman Bold"/>
                          <a:sym typeface="Times New Roman Bold"/>
                        </a:rPr>
                        <a:t>Methodology Adopted</a:t>
                      </a:r>
                      <a:endParaRPr lang="en-US" sz="1100" dirty="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840"/>
                        </a:lnSpc>
                        <a:defRPr/>
                      </a:pPr>
                      <a:r>
                        <a:rPr lang="en-US" sz="3200" b="1">
                          <a:solidFill>
                            <a:srgbClr val="000000"/>
                          </a:solidFill>
                          <a:latin typeface="Times New Roman Bold"/>
                          <a:ea typeface="Times New Roman Bold"/>
                          <a:cs typeface="Times New Roman Bold"/>
                          <a:sym typeface="Times New Roman Bold"/>
                        </a:rPr>
                        <a:t>Remarks/Conclusions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6427597"/>
                  </a:ext>
                </a:extLst>
              </a:tr>
              <a:tr h="3316507">
                <a:tc>
                  <a:txBody>
                    <a:bodyPr/>
                    <a:lstStyle/>
                    <a:p>
                      <a:pPr algn="ctr">
                        <a:lnSpc>
                          <a:spcPts val="3840"/>
                        </a:lnSpc>
                        <a:defRPr/>
                      </a:pPr>
                      <a:r>
                        <a:rPr lang="en-IN" sz="3200" dirty="0"/>
                        <a:t>Reddy et al [9]</a:t>
                      </a:r>
                      <a:endParaRPr lang="en-US" sz="32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Designed a robotic surveillance system with real-time monitoring and detection features. Integrated sensors and camera modules for autonomous operation.</a:t>
                      </a:r>
                      <a:endParaRPr lang="en-US" sz="1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demonstrated effective monitoring with reduced human effort.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Mobility improves coverage but increases system complexity. </a:t>
                      </a:r>
                    </a:p>
                    <a:p>
                      <a:pPr marL="579120" lvl="1" indent="-289560" algn="l">
                        <a:lnSpc>
                          <a:spcPts val="2879"/>
                        </a:lnSpc>
                        <a:buFont typeface="Arial"/>
                        <a:buChar char="•"/>
                        <a:defRPr/>
                      </a:pPr>
                      <a:endParaRPr lang="en-US" sz="110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9574459"/>
                  </a:ext>
                </a:extLst>
              </a:tr>
              <a:tr h="3489271">
                <a:tc>
                  <a:txBody>
                    <a:bodyPr/>
                    <a:lstStyle/>
                    <a:p>
                      <a:pPr algn="l">
                        <a:lnSpc>
                          <a:spcPts val="3840"/>
                        </a:lnSpc>
                        <a:defRPr/>
                      </a:pPr>
                      <a:endParaRPr lang="en-US" sz="1100" dirty="0"/>
                    </a:p>
                    <a:p>
                      <a:pPr algn="ctr">
                        <a:lnSpc>
                          <a:spcPts val="3840"/>
                        </a:lnSpc>
                      </a:pPr>
                      <a:r>
                        <a:rPr lang="en-IN" sz="3200" dirty="0"/>
                        <a:t>Taneja et al [10]</a:t>
                      </a:r>
                      <a:endParaRPr lang="en-US" sz="3200" dirty="0">
                        <a:solidFill>
                          <a:srgbClr val="000000"/>
                        </a:solidFill>
                        <a:latin typeface="Arial"/>
                        <a:ea typeface="Arial"/>
                        <a:cs typeface="Arial"/>
                        <a:sym typeface="Arial"/>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579120" lvl="1" indent="-289560" algn="l">
                        <a:lnSpc>
                          <a:spcPts val="2879"/>
                        </a:lnSpc>
                        <a:buFont typeface="Arial"/>
                        <a:buChar char="•"/>
                        <a:defRPr/>
                      </a:pPr>
                      <a:r>
                        <a:rPr lang="en-US" sz="2400" dirty="0">
                          <a:latin typeface="Times New Roman" panose="02020603050405020304" pitchFamily="18" charset="0"/>
                          <a:cs typeface="Times New Roman" panose="02020603050405020304" pitchFamily="18" charset="0"/>
                        </a:rPr>
                        <a:t>Developed a real-time surveillance system using YOLO-based object detection. Tested detection of multiple objects such as humans, vehicles, and threats.</a:t>
                      </a:r>
                      <a:endParaRPr lang="en-US" sz="2400" b="0" dirty="0">
                        <a:latin typeface="Times New Roman" panose="02020603050405020304" pitchFamily="18" charset="0"/>
                        <a:cs typeface="Times New Roman" panose="02020603050405020304" pitchFamily="18" charset="0"/>
                      </a:endParaRP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achieved reliable detection performance in real-time scenarios.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Accuracy may vary depending on environmental noise and object movement. </a:t>
                      </a:r>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6947667"/>
                  </a:ext>
                </a:extLst>
              </a:tr>
            </a:tbl>
          </a:graphicData>
        </a:graphic>
      </p:graphicFrame>
    </p:spTree>
    <p:extLst>
      <p:ext uri="{BB962C8B-B14F-4D97-AF65-F5344CB8AC3E}">
        <p14:creationId xmlns:p14="http://schemas.microsoft.com/office/powerpoint/2010/main" val="2571685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0" y="1646709"/>
            <a:ext cx="18288000" cy="8643134"/>
            <a:chOff x="0" y="0"/>
            <a:chExt cx="24384000" cy="11524179"/>
          </a:xfrm>
        </p:grpSpPr>
        <p:sp>
          <p:nvSpPr>
            <p:cNvPr id="3" name="Freeform 3"/>
            <p:cNvSpPr/>
            <p:nvPr/>
          </p:nvSpPr>
          <p:spPr>
            <a:xfrm>
              <a:off x="0" y="0"/>
              <a:ext cx="24384000" cy="11524234"/>
            </a:xfrm>
            <a:custGeom>
              <a:avLst/>
              <a:gdLst/>
              <a:ahLst/>
              <a:cxnLst/>
              <a:rect l="l" t="t" r="r" b="b"/>
              <a:pathLst>
                <a:path w="24384000" h="11524234">
                  <a:moveTo>
                    <a:pt x="24384000" y="0"/>
                  </a:moveTo>
                  <a:lnTo>
                    <a:pt x="0" y="0"/>
                  </a:lnTo>
                  <a:lnTo>
                    <a:pt x="0" y="11524234"/>
                  </a:lnTo>
                  <a:lnTo>
                    <a:pt x="24384000" y="11524234"/>
                  </a:lnTo>
                  <a:close/>
                </a:path>
              </a:pathLst>
            </a:custGeom>
            <a:solidFill>
              <a:srgbClr val="FAFAFA"/>
            </a:solidFill>
            <a:ln w="12700">
              <a:solidFill>
                <a:srgbClr val="000000"/>
              </a:solidFill>
            </a:ln>
          </p:spPr>
        </p:sp>
      </p:grpSp>
      <p:grpSp>
        <p:nvGrpSpPr>
          <p:cNvPr id="8" name="Group 8"/>
          <p:cNvGrpSpPr/>
          <p:nvPr/>
        </p:nvGrpSpPr>
        <p:grpSpPr>
          <a:xfrm>
            <a:off x="17047082" y="9391246"/>
            <a:ext cx="1097400" cy="787200"/>
            <a:chOff x="0" y="0"/>
            <a:chExt cx="1463200" cy="1049600"/>
          </a:xfrm>
        </p:grpSpPr>
        <p:sp>
          <p:nvSpPr>
            <p:cNvPr id="9" name="Freeform 9"/>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10" name="TextBox 10"/>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Roboto"/>
                  <a:ea typeface="Roboto"/>
                  <a:cs typeface="Roboto"/>
                  <a:sym typeface="Roboto"/>
                </a:rPr>
                <a:t>15</a:t>
              </a:r>
            </a:p>
          </p:txBody>
        </p:sp>
      </p:grpSp>
      <p:sp>
        <p:nvSpPr>
          <p:cNvPr id="11" name="TextBox 11"/>
          <p:cNvSpPr txBox="1"/>
          <p:nvPr/>
        </p:nvSpPr>
        <p:spPr>
          <a:xfrm>
            <a:off x="511771" y="305914"/>
            <a:ext cx="3530346" cy="993140"/>
          </a:xfrm>
          <a:prstGeom prst="rect">
            <a:avLst/>
          </a:prstGeom>
        </p:spPr>
        <p:txBody>
          <a:bodyPr lIns="0" tIns="0" rIns="0" bIns="0" rtlCol="0" anchor="t">
            <a:spAutoFit/>
          </a:bodyPr>
          <a:lstStyle/>
          <a:p>
            <a:pPr algn="l">
              <a:lnSpc>
                <a:spcPts val="6719"/>
              </a:lnSpc>
            </a:pPr>
            <a:r>
              <a:rPr lang="en-US" sz="5599" b="1" dirty="0">
                <a:solidFill>
                  <a:srgbClr val="000000"/>
                </a:solidFill>
                <a:latin typeface="Times New Roman Bold"/>
                <a:ea typeface="Times New Roman Bold"/>
                <a:cs typeface="Times New Roman Bold"/>
                <a:sym typeface="Times New Roman Bold"/>
              </a:rPr>
              <a:t>References</a:t>
            </a:r>
          </a:p>
        </p:txBody>
      </p:sp>
      <p:sp>
        <p:nvSpPr>
          <p:cNvPr id="21" name="TextBox 20">
            <a:extLst>
              <a:ext uri="{FF2B5EF4-FFF2-40B4-BE49-F238E27FC236}">
                <a16:creationId xmlns:a16="http://schemas.microsoft.com/office/drawing/2014/main" id="{2F2B438C-BD82-AB6C-D6A5-679B6E72B8B7}"/>
              </a:ext>
            </a:extLst>
          </p:cNvPr>
          <p:cNvSpPr txBox="1"/>
          <p:nvPr/>
        </p:nvSpPr>
        <p:spPr>
          <a:xfrm>
            <a:off x="187318" y="2198374"/>
            <a:ext cx="17033881" cy="7478970"/>
          </a:xfrm>
          <a:prstGeom prst="rect">
            <a:avLst/>
          </a:prstGeom>
          <a:noFill/>
        </p:spPr>
        <p:txBody>
          <a:bodyPr wrap="square">
            <a:spAutoFit/>
          </a:bodyPr>
          <a:lstStyle/>
          <a:p>
            <a:r>
              <a:rPr lang="en-IN" sz="3200" dirty="0">
                <a:latin typeface="Times New Roman" panose="02020603050405020304" pitchFamily="18" charset="0"/>
                <a:cs typeface="Times New Roman" panose="02020603050405020304" pitchFamily="18" charset="0"/>
              </a:rPr>
              <a:t>[1] Malathy et al., “Energy-efficient wireless sensor network for border surveillance,” 2024.</a:t>
            </a:r>
          </a:p>
          <a:p>
            <a:r>
              <a:rPr lang="en-IN" sz="3200" dirty="0">
                <a:latin typeface="Times New Roman" panose="02020603050405020304" pitchFamily="18" charset="0"/>
                <a:cs typeface="Times New Roman" panose="02020603050405020304" pitchFamily="18" charset="0"/>
              </a:rPr>
              <a:t>[2] </a:t>
            </a:r>
            <a:r>
              <a:rPr lang="en-IN" sz="3200" dirty="0" err="1">
                <a:latin typeface="Times New Roman" panose="02020603050405020304" pitchFamily="18" charset="0"/>
                <a:cs typeface="Times New Roman" panose="02020603050405020304" pitchFamily="18" charset="0"/>
              </a:rPr>
              <a:t>Essendorfer</a:t>
            </a:r>
            <a:r>
              <a:rPr lang="en-IN" sz="3200" dirty="0">
                <a:latin typeface="Times New Roman" panose="02020603050405020304" pitchFamily="18" charset="0"/>
                <a:cs typeface="Times New Roman" panose="02020603050405020304" pitchFamily="18" charset="0"/>
              </a:rPr>
              <a:t> et al., “Integrated architecture for border surveillance systems,” 2024.</a:t>
            </a:r>
          </a:p>
          <a:p>
            <a:r>
              <a:rPr lang="en-IN" sz="3200" dirty="0">
                <a:latin typeface="Times New Roman" panose="02020603050405020304" pitchFamily="18" charset="0"/>
                <a:cs typeface="Times New Roman" panose="02020603050405020304" pitchFamily="18" charset="0"/>
              </a:rPr>
              <a:t>[3] Sauter et al., “Swarm-based control for surveillance applications,” IEEE Trans. Robotics, 2024.</a:t>
            </a:r>
          </a:p>
          <a:p>
            <a:r>
              <a:rPr lang="en-IN" sz="3200" dirty="0">
                <a:latin typeface="Times New Roman" panose="02020603050405020304" pitchFamily="18" charset="0"/>
                <a:cs typeface="Times New Roman" panose="02020603050405020304" pitchFamily="18" charset="0"/>
              </a:rPr>
              <a:t>[4] Fatima et al., “IoT-based smart border security system using machine learning,” IEEE Internet of Things Journal, 2024.</a:t>
            </a:r>
          </a:p>
          <a:p>
            <a:r>
              <a:rPr lang="en-IN" sz="3200" dirty="0">
                <a:latin typeface="Times New Roman" panose="02020603050405020304" pitchFamily="18" charset="0"/>
                <a:cs typeface="Times New Roman" panose="02020603050405020304" pitchFamily="18" charset="0"/>
              </a:rPr>
              <a:t>[5] Arjun et al., “Wireless sensor networks for intrusion detection: A survey,” IEEE Communications Surveys &amp; Tutorials, 2024.</a:t>
            </a:r>
          </a:p>
          <a:p>
            <a:r>
              <a:rPr lang="en-IN" sz="3200" dirty="0">
                <a:latin typeface="Times New Roman" panose="02020603050405020304" pitchFamily="18" charset="0"/>
                <a:cs typeface="Times New Roman" panose="02020603050405020304" pitchFamily="18" charset="0"/>
              </a:rPr>
              <a:t>[6] </a:t>
            </a:r>
            <a:r>
              <a:rPr lang="en-IN" sz="3200" dirty="0" err="1">
                <a:latin typeface="Times New Roman" panose="02020603050405020304" pitchFamily="18" charset="0"/>
                <a:cs typeface="Times New Roman" panose="02020603050405020304" pitchFamily="18" charset="0"/>
              </a:rPr>
              <a:t>Nahata</a:t>
            </a:r>
            <a:r>
              <a:rPr lang="en-IN" sz="3200" dirty="0">
                <a:latin typeface="Times New Roman" panose="02020603050405020304" pitchFamily="18" charset="0"/>
                <a:cs typeface="Times New Roman" panose="02020603050405020304" pitchFamily="18" charset="0"/>
              </a:rPr>
              <a:t> et al., “YOLO-based real-time object detection system,” Proc. ICCV, 2024.</a:t>
            </a:r>
          </a:p>
          <a:p>
            <a:r>
              <a:rPr lang="en-IN" sz="3200" dirty="0">
                <a:latin typeface="Times New Roman" panose="02020603050405020304" pitchFamily="18" charset="0"/>
                <a:cs typeface="Times New Roman" panose="02020603050405020304" pitchFamily="18" charset="0"/>
              </a:rPr>
              <a:t>[7] Noor et al., “Digital border surveillance system using YOLOv7,” IEEE Conference on Security and Privacy, 2024.</a:t>
            </a:r>
          </a:p>
          <a:p>
            <a:r>
              <a:rPr lang="en-IN" sz="3200" dirty="0">
                <a:latin typeface="Times New Roman" panose="02020603050405020304" pitchFamily="18" charset="0"/>
                <a:cs typeface="Times New Roman" panose="02020603050405020304" pitchFamily="18" charset="0"/>
              </a:rPr>
              <a:t>[8] Kumar et al., “Deep learning for object detection in surveillance systems,” IEEE Trans. Geoscience and Remote Sensing, 2024.</a:t>
            </a:r>
          </a:p>
          <a:p>
            <a:r>
              <a:rPr lang="en-IN" sz="3200" dirty="0">
                <a:latin typeface="Times New Roman" panose="02020603050405020304" pitchFamily="18" charset="0"/>
                <a:cs typeface="Times New Roman" panose="02020603050405020304" pitchFamily="18" charset="0"/>
              </a:rPr>
              <a:t>[9] Reddy et al., “Automated surveillance robot with real-time monitoring,” Proc. IEEE ICRA, 2024.</a:t>
            </a:r>
          </a:p>
          <a:p>
            <a:r>
              <a:rPr lang="en-IN" sz="3200" dirty="0">
                <a:latin typeface="Times New Roman" panose="02020603050405020304" pitchFamily="18" charset="0"/>
                <a:cs typeface="Times New Roman" panose="02020603050405020304" pitchFamily="18" charset="0"/>
              </a:rPr>
              <a:t>[10] Taneja et al., “Real-time surveillance system using YOLO-based detection,” Proc. ICIP, 2024.</a:t>
            </a:r>
          </a:p>
          <a:p>
            <a:pPr>
              <a:buFont typeface="+mj-lt"/>
              <a:buAutoNum type="arabicPeriod"/>
            </a:pPr>
            <a:endParaRPr lang="en-IN"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4" name="TextBox 4"/>
          <p:cNvSpPr txBox="1"/>
          <p:nvPr/>
        </p:nvSpPr>
        <p:spPr>
          <a:xfrm>
            <a:off x="990600" y="1753677"/>
            <a:ext cx="16256620" cy="6993977"/>
          </a:xfrm>
          <a:prstGeom prst="rect">
            <a:avLst/>
          </a:prstGeom>
        </p:spPr>
        <p:txBody>
          <a:bodyPr lIns="0" tIns="0" rIns="0" bIns="0" rtlCol="0" anchor="ctr"/>
          <a:lstStyle/>
          <a:p>
            <a:pPr algn="ctr">
              <a:lnSpc>
                <a:spcPts val="9600"/>
              </a:lnSpc>
            </a:pPr>
            <a:r>
              <a:rPr lang="en-US" sz="10000" dirty="0">
                <a:latin typeface="Times New Roman Bold"/>
                <a:ea typeface="Times New Roman Bold"/>
                <a:cs typeface="Times New Roman Bold"/>
                <a:sym typeface="Times New Roman Bold"/>
              </a:rPr>
              <a:t>Thank You</a:t>
            </a:r>
          </a:p>
        </p:txBody>
      </p:sp>
      <p:grpSp>
        <p:nvGrpSpPr>
          <p:cNvPr id="5" name="Group 5"/>
          <p:cNvGrpSpPr/>
          <p:nvPr/>
        </p:nvGrpSpPr>
        <p:grpSpPr>
          <a:xfrm>
            <a:off x="17047082" y="9391246"/>
            <a:ext cx="1097400" cy="787200"/>
            <a:chOff x="0" y="0"/>
            <a:chExt cx="1463200" cy="1049600"/>
          </a:xfrm>
        </p:grpSpPr>
        <p:sp>
          <p:nvSpPr>
            <p:cNvPr id="6" name="Freeform 6"/>
            <p:cNvSpPr/>
            <p:nvPr/>
          </p:nvSpPr>
          <p:spPr>
            <a:xfrm>
              <a:off x="0" y="0"/>
              <a:ext cx="1463200" cy="1049600"/>
            </a:xfrm>
            <a:custGeom>
              <a:avLst/>
              <a:gdLst/>
              <a:ahLst/>
              <a:cxnLst/>
              <a:rect l="l" t="t" r="r" b="b"/>
              <a:pathLst>
                <a:path w="1463200" h="1049600">
                  <a:moveTo>
                    <a:pt x="0" y="0"/>
                  </a:moveTo>
                  <a:lnTo>
                    <a:pt x="1463200" y="0"/>
                  </a:lnTo>
                  <a:lnTo>
                    <a:pt x="1463200" y="1049600"/>
                  </a:lnTo>
                  <a:lnTo>
                    <a:pt x="0" y="1049600"/>
                  </a:lnTo>
                  <a:close/>
                </a:path>
              </a:pathLst>
            </a:custGeom>
            <a:solidFill>
              <a:srgbClr val="000000">
                <a:alpha val="0"/>
              </a:srgbClr>
            </a:solidFill>
          </p:spPr>
        </p:sp>
        <p:sp>
          <p:nvSpPr>
            <p:cNvPr id="7" name="TextBox 7"/>
            <p:cNvSpPr txBox="1"/>
            <p:nvPr/>
          </p:nvSpPr>
          <p:spPr>
            <a:xfrm>
              <a:off x="0" y="-19050"/>
              <a:ext cx="1463200" cy="1068650"/>
            </a:xfrm>
            <a:prstGeom prst="rect">
              <a:avLst/>
            </a:prstGeom>
          </p:spPr>
          <p:txBody>
            <a:bodyPr lIns="0" tIns="0" rIns="0" bIns="0" rtlCol="0" anchor="ctr"/>
            <a:lstStyle/>
            <a:p>
              <a:pPr algn="r">
                <a:lnSpc>
                  <a:spcPts val="2400"/>
                </a:lnSpc>
              </a:pPr>
              <a:r>
                <a:rPr lang="en-US" sz="2000">
                  <a:solidFill>
                    <a:srgbClr val="737373"/>
                  </a:solidFill>
                  <a:latin typeface="Roboto"/>
                  <a:ea typeface="Roboto"/>
                  <a:cs typeface="Roboto"/>
                  <a:sym typeface="Roboto"/>
                </a:rPr>
                <a:t>16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1199</TotalTime>
  <Words>1891</Words>
  <Application>Microsoft Office PowerPoint</Application>
  <PresentationFormat>Custom</PresentationFormat>
  <Paragraphs>286</Paragraphs>
  <Slides>17</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Times New Roman Bold</vt:lpstr>
      <vt:lpstr>Arial</vt:lpstr>
      <vt:lpstr>Times New Roman</vt:lpstr>
      <vt:lpstr>Roboto</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PPT.pptx</dc:title>
  <dc:creator>Pratham Shetty</dc:creator>
  <cp:lastModifiedBy>Neha Raj</cp:lastModifiedBy>
  <cp:revision>9</cp:revision>
  <dcterms:created xsi:type="dcterms:W3CDTF">2006-08-16T00:00:00Z</dcterms:created>
  <dcterms:modified xsi:type="dcterms:W3CDTF">2026-04-15T05:04:47Z</dcterms:modified>
  <dc:identifier>DAG5xXc8nX4</dc:identifier>
</cp:coreProperties>
</file>